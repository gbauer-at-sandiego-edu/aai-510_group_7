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2451ba5da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2451ba5da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2451ba5da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2451ba5d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451ba5d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2451ba5d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2451ba5da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2451ba5d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2451ba5d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2451ba5d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2451ba5d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2451ba5d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2451ba5da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2451ba5d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2451ba5da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2451ba5da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2451ba5da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2451ba5da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2451ba5da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2451ba5da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1334100" y="638600"/>
            <a:ext cx="6475800" cy="6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20"/>
              <a:t>Credit Card Fraud Detection</a:t>
            </a:r>
            <a:endParaRPr b="1" sz="3120"/>
          </a:p>
        </p:txBody>
      </p:sp>
      <p:sp>
        <p:nvSpPr>
          <p:cNvPr id="60" name="Google Shape;60;p13"/>
          <p:cNvSpPr txBox="1"/>
          <p:nvPr/>
        </p:nvSpPr>
        <p:spPr>
          <a:xfrm>
            <a:off x="2415100" y="1166450"/>
            <a:ext cx="44703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Leveraging AI-Driven Solution to Detect and Prevent Fraud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334100" y="2354950"/>
            <a:ext cx="6882000" cy="1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Rebecca Cloe, Greg Bauer, Birendra Khimding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Shiley-Marcos School of Engineering, University of San Diego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AAI-510 Machine Learning Fundamentals and Applications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Professor Mirsardar Esmaeili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9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Introduction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53750" y="1960750"/>
            <a:ext cx="4936500" cy="30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Credit card fraud results in billions of dollars in loss every year globally.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With the </a:t>
            </a:r>
            <a:r>
              <a:rPr lang="en" sz="1400">
                <a:solidFill>
                  <a:schemeClr val="dk1"/>
                </a:solidFill>
              </a:rPr>
              <a:t>increase</a:t>
            </a:r>
            <a:r>
              <a:rPr lang="en" sz="1400">
                <a:solidFill>
                  <a:schemeClr val="dk1"/>
                </a:solidFill>
              </a:rPr>
              <a:t> in online transactions, organizations are more exposed to </a:t>
            </a:r>
            <a:r>
              <a:rPr lang="en" sz="1400">
                <a:solidFill>
                  <a:schemeClr val="dk1"/>
                </a:solidFill>
              </a:rPr>
              <a:t>fraudulent</a:t>
            </a:r>
            <a:r>
              <a:rPr lang="en" sz="1400">
                <a:solidFill>
                  <a:schemeClr val="dk1"/>
                </a:solidFill>
              </a:rPr>
              <a:t> activity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Early detection of </a:t>
            </a:r>
            <a:r>
              <a:rPr lang="en" sz="1400">
                <a:solidFill>
                  <a:schemeClr val="dk1"/>
                </a:solidFill>
              </a:rPr>
              <a:t>fraudulent</a:t>
            </a:r>
            <a:r>
              <a:rPr lang="en" sz="1400">
                <a:solidFill>
                  <a:schemeClr val="dk1"/>
                </a:solidFill>
              </a:rPr>
              <a:t> transactions is important.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8" name="Google Shape;68;p14" title="credit-card-fraud-detection.jpg"/>
          <p:cNvPicPr preferRelativeResize="0"/>
          <p:nvPr/>
        </p:nvPicPr>
        <p:blipFill rotWithShape="1">
          <a:blip r:embed="rId3">
            <a:alphaModFix amt="91000"/>
          </a:blip>
          <a:srcRect b="0" l="-796" r="0" t="0"/>
          <a:stretch/>
        </p:blipFill>
        <p:spPr>
          <a:xfrm>
            <a:off x="5742350" y="1796275"/>
            <a:ext cx="3289500" cy="28911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st="19050">
              <a:schemeClr val="dk1">
                <a:alpha val="41000"/>
              </a:schemeClr>
            </a:outerShdw>
          </a:effectLst>
        </p:spPr>
      </p:pic>
      <p:sp>
        <p:nvSpPr>
          <p:cNvPr id="69" name="Google Shape;69;p14"/>
          <p:cNvSpPr txBox="1"/>
          <p:nvPr/>
        </p:nvSpPr>
        <p:spPr>
          <a:xfrm>
            <a:off x="1802250" y="829825"/>
            <a:ext cx="56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Protecting Customer &amp; Profit against Credit Card Fraud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Business Problem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938700" y="1801725"/>
            <a:ext cx="7262400" cy="24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53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5"/>
              <a:buChar char="●"/>
            </a:pPr>
            <a:r>
              <a:rPr lang="en" sz="1495">
                <a:solidFill>
                  <a:schemeClr val="dk1"/>
                </a:solidFill>
              </a:rPr>
              <a:t>A single </a:t>
            </a:r>
            <a:r>
              <a:rPr lang="en" sz="1495">
                <a:solidFill>
                  <a:schemeClr val="dk1"/>
                </a:solidFill>
              </a:rPr>
              <a:t>fraudulent</a:t>
            </a:r>
            <a:r>
              <a:rPr lang="en" sz="1495">
                <a:solidFill>
                  <a:schemeClr val="dk1"/>
                </a:solidFill>
              </a:rPr>
              <a:t> transaction can damage customer trust and confidence</a:t>
            </a:r>
            <a:endParaRPr sz="14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23532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5"/>
              <a:buChar char="●"/>
            </a:pPr>
            <a:r>
              <a:rPr lang="en" sz="1495">
                <a:solidFill>
                  <a:schemeClr val="dk1"/>
                </a:solidFill>
              </a:rPr>
              <a:t>Detecting fraud manually is time consuming and expensive</a:t>
            </a:r>
            <a:endParaRPr sz="14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  <a:p>
            <a:pPr indent="-323532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5"/>
              <a:buChar char="●"/>
            </a:pPr>
            <a:r>
              <a:rPr lang="en" sz="1495">
                <a:solidFill>
                  <a:schemeClr val="dk1"/>
                </a:solidFill>
              </a:rPr>
              <a:t>As technology advances, the fraud implementation are getting sophisticated and harder to detect</a:t>
            </a:r>
            <a:endParaRPr sz="15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  <a:p>
            <a:pPr indent="-323532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5"/>
              <a:buChar char="●"/>
            </a:pPr>
            <a:r>
              <a:rPr lang="en" sz="1495">
                <a:solidFill>
                  <a:schemeClr val="dk1"/>
                </a:solidFill>
              </a:rPr>
              <a:t>Detecting fraud early and accurately is crucial for both customers and organizations</a:t>
            </a:r>
            <a:endParaRPr sz="1495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991100" y="912075"/>
            <a:ext cx="516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Rising Credit Card Fraud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Threatens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Financial Trust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Our Goal</a:t>
            </a:r>
            <a:endParaRPr sz="25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812600" y="1898900"/>
            <a:ext cx="37104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Detect fraud accurately and quickly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Reduce false detection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Work on large amount of data in real time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3" name="Google Shape;83;p16" title="checklist-41335_1280.png"/>
          <p:cNvPicPr preferRelativeResize="0"/>
          <p:nvPr/>
        </p:nvPicPr>
        <p:blipFill>
          <a:blip r:embed="rId3">
            <a:alphaModFix amt="91000"/>
          </a:blip>
          <a:stretch>
            <a:fillRect/>
          </a:stretch>
        </p:blipFill>
        <p:spPr>
          <a:xfrm>
            <a:off x="6051050" y="1659675"/>
            <a:ext cx="2717925" cy="28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445000" y="971875"/>
            <a:ext cx="4254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Detect Fraud Accurately and in Real Time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Dataset</a:t>
            </a:r>
            <a:endParaRPr sz="2400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350788"/>
            <a:ext cx="3942300" cy="3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dataset has credit card transactions of two days, with only 0.17% fraud cases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transactions are transformed for privacy.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Key data are: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Time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Transactions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Amount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Class (Target)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925" y="1454200"/>
            <a:ext cx="4585201" cy="32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Challenges</a:t>
            </a:r>
            <a:endParaRPr sz="2500"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91288"/>
            <a:ext cx="371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High </a:t>
            </a:r>
            <a:r>
              <a:rPr lang="en" sz="1400">
                <a:solidFill>
                  <a:schemeClr val="dk1"/>
                </a:solidFill>
              </a:rPr>
              <a:t>imbalance</a:t>
            </a:r>
            <a:r>
              <a:rPr lang="en" sz="1400">
                <a:solidFill>
                  <a:schemeClr val="dk1"/>
                </a:solidFill>
              </a:rPr>
              <a:t> data: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Fraudulent data are very less </a:t>
            </a:r>
            <a:r>
              <a:rPr lang="en">
                <a:solidFill>
                  <a:schemeClr val="dk1"/>
                </a:solidFill>
              </a:rPr>
              <a:t>compared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lang="en">
                <a:solidFill>
                  <a:schemeClr val="dk1"/>
                </a:solidFill>
              </a:rPr>
              <a:t>legitimate data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Transformed features limits for </a:t>
            </a:r>
            <a:r>
              <a:rPr lang="en" sz="1400">
                <a:solidFill>
                  <a:schemeClr val="dk1"/>
                </a:solidFill>
              </a:rPr>
              <a:t>detail</a:t>
            </a:r>
            <a:r>
              <a:rPr lang="en" sz="1400">
                <a:solidFill>
                  <a:schemeClr val="dk1"/>
                </a:solidFill>
              </a:rPr>
              <a:t> feature analysis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Identifying all fraudulent transactions is crucial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250" y="1327125"/>
            <a:ext cx="3788300" cy="33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Our Approach</a:t>
            </a:r>
            <a:endParaRPr sz="2500"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377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Analysed</a:t>
            </a:r>
            <a:r>
              <a:rPr lang="en" sz="1400">
                <a:solidFill>
                  <a:schemeClr val="dk1"/>
                </a:solidFill>
              </a:rPr>
              <a:t> data to understand patterns.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Addressed data imbalance.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Evaluated different models: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Logistic Regression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XGboost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SVM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Prioritized model that can detect most </a:t>
            </a:r>
            <a:r>
              <a:rPr lang="en" sz="1400">
                <a:solidFill>
                  <a:schemeClr val="dk1"/>
                </a:solidFill>
              </a:rPr>
              <a:t>fraudulent</a:t>
            </a:r>
            <a:r>
              <a:rPr lang="en" sz="1400">
                <a:solidFill>
                  <a:schemeClr val="dk1"/>
                </a:solidFill>
              </a:rPr>
              <a:t> transactions.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05" name="Google Shape;105;p19" title="1692101681340.jpg"/>
          <p:cNvPicPr preferRelativeResize="0"/>
          <p:nvPr/>
        </p:nvPicPr>
        <p:blipFill>
          <a:blip r:embed="rId3">
            <a:alphaModFix amt="91000"/>
          </a:blip>
          <a:stretch>
            <a:fillRect/>
          </a:stretch>
        </p:blipFill>
        <p:spPr>
          <a:xfrm>
            <a:off x="5315450" y="1170125"/>
            <a:ext cx="3618300" cy="3188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Results</a:t>
            </a:r>
            <a:endParaRPr sz="2500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5" y="1170125"/>
            <a:ext cx="2803525" cy="32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250" y="1170125"/>
            <a:ext cx="2803525" cy="32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4175" y="1170125"/>
            <a:ext cx="3027425" cy="32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Best Model</a:t>
            </a:r>
            <a:endParaRPr sz="2500"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Business Impact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49075" y="1567975"/>
            <a:ext cx="4260300" cy="28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Catching </a:t>
            </a:r>
            <a:r>
              <a:rPr lang="en" sz="1400"/>
              <a:t>fraudulent</a:t>
            </a:r>
            <a:r>
              <a:rPr lang="en" sz="1400"/>
              <a:t> transactions early saves money and earns customers </a:t>
            </a:r>
            <a:r>
              <a:rPr lang="en" sz="1400"/>
              <a:t>trust</a:t>
            </a:r>
            <a:r>
              <a:rPr lang="en" sz="1400"/>
              <a:t>.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Builds organizational trust and reputation.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Improve customer satisfaction. 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26" name="Google Shape;126;p22" title="fraud-prevention-shield-a-shield-icon-with-a-checkmark-surrounded-by-icons-representing-various-supply-chain-components-raw-materials-production-retail-to-emphasize-security-and-vector.jpg"/>
          <p:cNvPicPr preferRelativeResize="0"/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4896800" y="1484575"/>
            <a:ext cx="4087200" cy="2982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Risk and Mitigation</a:t>
            </a:r>
            <a:endParaRPr sz="2500"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24350" y="1166250"/>
            <a:ext cx="5295300" cy="29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9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Missing fraud transaction:</a:t>
            </a:r>
            <a:endParaRPr sz="1375">
              <a:solidFill>
                <a:schemeClr val="dk1"/>
              </a:solidFill>
            </a:endParaRPr>
          </a:p>
          <a:p>
            <a:pPr indent="-315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5"/>
              <a:buChar char="○"/>
            </a:pPr>
            <a:r>
              <a:rPr lang="en" sz="1375">
                <a:solidFill>
                  <a:schemeClr val="dk1"/>
                </a:solidFill>
              </a:rPr>
              <a:t>Implement real time monitoring </a:t>
            </a:r>
            <a:r>
              <a:rPr lang="en" sz="1375">
                <a:solidFill>
                  <a:schemeClr val="dk1"/>
                </a:solidFill>
              </a:rPr>
              <a:t>system</a:t>
            </a:r>
            <a:r>
              <a:rPr lang="en" sz="1375">
                <a:solidFill>
                  <a:schemeClr val="dk1"/>
                </a:solidFill>
              </a:rPr>
              <a:t> </a:t>
            </a:r>
            <a:endParaRPr sz="1375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25">
              <a:solidFill>
                <a:schemeClr val="dk1"/>
              </a:solidFill>
            </a:endParaRPr>
          </a:p>
          <a:p>
            <a:pPr indent="-3159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Overdependence</a:t>
            </a:r>
            <a:r>
              <a:rPr lang="en" sz="1375">
                <a:solidFill>
                  <a:schemeClr val="dk1"/>
                </a:solidFill>
              </a:rPr>
              <a:t> on the model:</a:t>
            </a:r>
            <a:endParaRPr sz="1375">
              <a:solidFill>
                <a:schemeClr val="dk1"/>
              </a:solidFill>
            </a:endParaRPr>
          </a:p>
          <a:p>
            <a:pPr indent="-315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5"/>
              <a:buChar char="○"/>
            </a:pPr>
            <a:r>
              <a:rPr lang="en" sz="1375">
                <a:solidFill>
                  <a:schemeClr val="dk1"/>
                </a:solidFill>
              </a:rPr>
              <a:t>Combining prediction with a expert team to review. </a:t>
            </a:r>
            <a:endParaRPr sz="1375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25">
              <a:solidFill>
                <a:schemeClr val="dk1"/>
              </a:solidFill>
            </a:endParaRPr>
          </a:p>
          <a:p>
            <a:pPr indent="-3159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Bias:</a:t>
            </a:r>
            <a:endParaRPr sz="1375">
              <a:solidFill>
                <a:schemeClr val="dk1"/>
              </a:solidFill>
            </a:endParaRPr>
          </a:p>
          <a:p>
            <a:pPr indent="-315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5"/>
              <a:buChar char="○"/>
            </a:pPr>
            <a:r>
              <a:rPr lang="en" sz="1375">
                <a:solidFill>
                  <a:schemeClr val="dk1"/>
                </a:solidFill>
              </a:rPr>
              <a:t>Regular check for biases in the model</a:t>
            </a:r>
            <a:endParaRPr sz="137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25">
              <a:solidFill>
                <a:schemeClr val="dk1"/>
              </a:solidFill>
            </a:endParaRPr>
          </a:p>
          <a:p>
            <a:pPr indent="-3159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Model become outdated:</a:t>
            </a:r>
            <a:endParaRPr sz="1375">
              <a:solidFill>
                <a:schemeClr val="dk1"/>
              </a:solidFill>
            </a:endParaRPr>
          </a:p>
          <a:p>
            <a:pPr indent="-315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5"/>
              <a:buChar char="○"/>
            </a:pPr>
            <a:r>
              <a:rPr lang="en" sz="1375">
                <a:solidFill>
                  <a:schemeClr val="dk1"/>
                </a:solidFill>
              </a:rPr>
              <a:t>Updates and timely retraining of the model</a:t>
            </a:r>
            <a:endParaRPr sz="13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625">
                <a:solidFill>
                  <a:schemeClr val="dk1"/>
                </a:solidFill>
              </a:rPr>
              <a:t>						</a:t>
            </a:r>
            <a:endParaRPr sz="16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625">
                <a:solidFill>
                  <a:schemeClr val="dk1"/>
                </a:solidFill>
              </a:rPr>
              <a:t>		</a:t>
            </a:r>
            <a:endParaRPr sz="16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
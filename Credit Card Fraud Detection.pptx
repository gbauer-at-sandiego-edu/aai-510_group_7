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embeddedFontLst>
    <p:embeddedFont>
      <p:font typeface="Average" panose="020B0604020202020204" charset="0"/>
      <p:regular r:id="rId14"/>
    </p:embeddedFont>
    <p:embeddedFont>
      <p:font typeface="Century Gothic" panose="020B0502020202020204" pitchFamily="34" charset="0"/>
      <p:regular r:id="rId15"/>
      <p:bold r:id="rId16"/>
      <p:italic r:id="rId17"/>
      <p:boldItalic r:id="rId18"/>
    </p:embeddedFont>
    <p:embeddedFont>
      <p:font typeface="Wingdings 3" panose="05040102010807070707" pitchFamily="18" charset="2"/>
      <p:regular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4F2AD6-FFFE-4D84-90B3-85667944EE75}" v="53" dt="2025-06-17T23:03:14.5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becca Cloe" userId="d19bc6b765f9694a" providerId="LiveId" clId="{D04F2AD6-FFFE-4D84-90B3-85667944EE75}"/>
    <pc:docChg chg="undo custSel modSld">
      <pc:chgData name="Rebecca Cloe" userId="d19bc6b765f9694a" providerId="LiveId" clId="{D04F2AD6-FFFE-4D84-90B3-85667944EE75}" dt="2025-06-17T23:30:23.297" v="454" actId="20577"/>
      <pc:docMkLst>
        <pc:docMk/>
      </pc:docMkLst>
      <pc:sldChg chg="modSp mod modNotes">
        <pc:chgData name="Rebecca Cloe" userId="d19bc6b765f9694a" providerId="LiveId" clId="{D04F2AD6-FFFE-4D84-90B3-85667944EE75}" dt="2025-06-17T22:07:31.890" v="4" actId="1076"/>
        <pc:sldMkLst>
          <pc:docMk/>
          <pc:sldMk cId="0" sldId="256"/>
        </pc:sldMkLst>
        <pc:spChg chg="mod">
          <ac:chgData name="Rebecca Cloe" userId="d19bc6b765f9694a" providerId="LiveId" clId="{D04F2AD6-FFFE-4D84-90B3-85667944EE75}" dt="2025-06-17T22:07:31.890" v="4" actId="1076"/>
          <ac:spMkLst>
            <pc:docMk/>
            <pc:sldMk cId="0" sldId="256"/>
            <ac:spMk id="60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07:27.983" v="2" actId="1076"/>
          <ac:spMkLst>
            <pc:docMk/>
            <pc:sldMk cId="0" sldId="256"/>
            <ac:spMk id="61" creationId="{00000000-0000-0000-0000-000000000000}"/>
          </ac:spMkLst>
        </pc:spChg>
      </pc:sldChg>
      <pc:sldChg chg="modSp mod modNotes">
        <pc:chgData name="Rebecca Cloe" userId="d19bc6b765f9694a" providerId="LiveId" clId="{D04F2AD6-FFFE-4D84-90B3-85667944EE75}" dt="2025-06-17T22:09:12.313" v="13" actId="20577"/>
        <pc:sldMkLst>
          <pc:docMk/>
          <pc:sldMk cId="0" sldId="257"/>
        </pc:sldMkLst>
        <pc:spChg chg="mod">
          <ac:chgData name="Rebecca Cloe" userId="d19bc6b765f9694a" providerId="LiveId" clId="{D04F2AD6-FFFE-4D84-90B3-85667944EE75}" dt="2025-06-17T22:09:12.313" v="13" actId="20577"/>
          <ac:spMkLst>
            <pc:docMk/>
            <pc:sldMk cId="0" sldId="257"/>
            <ac:spMk id="67" creationId="{00000000-0000-0000-0000-000000000000}"/>
          </ac:spMkLst>
        </pc:spChg>
      </pc:sldChg>
      <pc:sldChg chg="modSp mod modNotes">
        <pc:chgData name="Rebecca Cloe" userId="d19bc6b765f9694a" providerId="LiveId" clId="{D04F2AD6-FFFE-4D84-90B3-85667944EE75}" dt="2025-06-17T22:31:21.385" v="196" actId="20577"/>
        <pc:sldMkLst>
          <pc:docMk/>
          <pc:sldMk cId="0" sldId="258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58"/>
            <ac:spMk id="74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31:21.385" v="196" actId="20577"/>
          <ac:spMkLst>
            <pc:docMk/>
            <pc:sldMk cId="0" sldId="258"/>
            <ac:spMk id="75" creationId="{00000000-0000-0000-0000-000000000000}"/>
          </ac:spMkLst>
        </pc:spChg>
      </pc:sldChg>
      <pc:sldChg chg="modSp mod modNotes">
        <pc:chgData name="Rebecca Cloe" userId="d19bc6b765f9694a" providerId="LiveId" clId="{D04F2AD6-FFFE-4D84-90B3-85667944EE75}" dt="2025-06-17T22:13:15.035" v="64" actId="5793"/>
        <pc:sldMkLst>
          <pc:docMk/>
          <pc:sldMk cId="0" sldId="259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59"/>
            <ac:spMk id="81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13:15.035" v="64" actId="5793"/>
          <ac:spMkLst>
            <pc:docMk/>
            <pc:sldMk cId="0" sldId="259"/>
            <ac:spMk id="82" creationId="{00000000-0000-0000-0000-000000000000}"/>
          </ac:spMkLst>
        </pc:spChg>
      </pc:sldChg>
      <pc:sldChg chg="modSp mod modNotes">
        <pc:chgData name="Rebecca Cloe" userId="d19bc6b765f9694a" providerId="LiveId" clId="{D04F2AD6-FFFE-4D84-90B3-85667944EE75}" dt="2025-06-17T22:34:00.711" v="211" actId="20577"/>
        <pc:sldMkLst>
          <pc:docMk/>
          <pc:sldMk cId="0" sldId="260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0"/>
            <ac:spMk id="89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34:00.711" v="211" actId="20577"/>
          <ac:spMkLst>
            <pc:docMk/>
            <pc:sldMk cId="0" sldId="260"/>
            <ac:spMk id="90" creationId="{00000000-0000-0000-0000-000000000000}"/>
          </ac:spMkLst>
        </pc:spChg>
      </pc:sldChg>
      <pc:sldChg chg="modSp mod modNotes">
        <pc:chgData name="Rebecca Cloe" userId="d19bc6b765f9694a" providerId="LiveId" clId="{D04F2AD6-FFFE-4D84-90B3-85667944EE75}" dt="2025-06-17T22:17:22.207" v="130" actId="255"/>
        <pc:sldMkLst>
          <pc:docMk/>
          <pc:sldMk cId="0" sldId="261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1"/>
            <ac:spMk id="96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17:22.207" v="130" actId="255"/>
          <ac:spMkLst>
            <pc:docMk/>
            <pc:sldMk cId="0" sldId="261"/>
            <ac:spMk id="97" creationId="{00000000-0000-0000-0000-000000000000}"/>
          </ac:spMkLst>
        </pc:spChg>
        <pc:picChg chg="mod">
          <ac:chgData name="Rebecca Cloe" userId="d19bc6b765f9694a" providerId="LiveId" clId="{D04F2AD6-FFFE-4D84-90B3-85667944EE75}" dt="2025-06-17T22:13:32.786" v="70" actId="1076"/>
          <ac:picMkLst>
            <pc:docMk/>
            <pc:sldMk cId="0" sldId="261"/>
            <ac:picMk id="98" creationId="{00000000-0000-0000-0000-000000000000}"/>
          </ac:picMkLst>
        </pc:picChg>
      </pc:sldChg>
      <pc:sldChg chg="modSp mod modNotes">
        <pc:chgData name="Rebecca Cloe" userId="d19bc6b765f9694a" providerId="LiveId" clId="{D04F2AD6-FFFE-4D84-90B3-85667944EE75}" dt="2025-06-17T22:21:06.466" v="160" actId="27636"/>
        <pc:sldMkLst>
          <pc:docMk/>
          <pc:sldMk cId="0" sldId="262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2"/>
            <ac:spMk id="103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21:06.466" v="160" actId="27636"/>
          <ac:spMkLst>
            <pc:docMk/>
            <pc:sldMk cId="0" sldId="262"/>
            <ac:spMk id="104" creationId="{00000000-0000-0000-0000-000000000000}"/>
          </ac:spMkLst>
        </pc:spChg>
      </pc:sldChg>
      <pc:sldChg chg="addSp delSp modSp mod modNotes">
        <pc:chgData name="Rebecca Cloe" userId="d19bc6b765f9694a" providerId="LiveId" clId="{D04F2AD6-FFFE-4D84-90B3-85667944EE75}" dt="2025-06-17T22:57:52.982" v="353" actId="20577"/>
        <pc:sldMkLst>
          <pc:docMk/>
          <pc:sldMk cId="0" sldId="263"/>
        </pc:sldMkLst>
        <pc:spChg chg="add del mod">
          <ac:chgData name="Rebecca Cloe" userId="d19bc6b765f9694a" providerId="LiveId" clId="{D04F2AD6-FFFE-4D84-90B3-85667944EE75}" dt="2025-06-17T22:23:53.485" v="163"/>
          <ac:spMkLst>
            <pc:docMk/>
            <pc:sldMk cId="0" sldId="263"/>
            <ac:spMk id="2" creationId="{5518A36D-C20A-E3DB-F092-20B71CD86275}"/>
          </ac:spMkLst>
        </pc:spChg>
        <pc:spChg chg="add del mod">
          <ac:chgData name="Rebecca Cloe" userId="d19bc6b765f9694a" providerId="LiveId" clId="{D04F2AD6-FFFE-4D84-90B3-85667944EE75}" dt="2025-06-17T22:24:08.534" v="166"/>
          <ac:spMkLst>
            <pc:docMk/>
            <pc:sldMk cId="0" sldId="263"/>
            <ac:spMk id="3" creationId="{18062FBD-ED27-8097-5154-61C9C34FB9A0}"/>
          </ac:spMkLst>
        </pc:spChg>
        <pc:spChg chg="add mod">
          <ac:chgData name="Rebecca Cloe" userId="d19bc6b765f9694a" providerId="LiveId" clId="{D04F2AD6-FFFE-4D84-90B3-85667944EE75}" dt="2025-06-17T22:30:13.288" v="192" actId="20577"/>
          <ac:spMkLst>
            <pc:docMk/>
            <pc:sldMk cId="0" sldId="263"/>
            <ac:spMk id="4" creationId="{4738FC28-A42C-6C53-6F06-B22561BE3078}"/>
          </ac:spMkLst>
        </pc:spChg>
        <pc:spChg chg="add mod">
          <ac:chgData name="Rebecca Cloe" userId="d19bc6b765f9694a" providerId="LiveId" clId="{D04F2AD6-FFFE-4D84-90B3-85667944EE75}" dt="2025-06-17T22:57:46.398" v="351" actId="20577"/>
          <ac:spMkLst>
            <pc:docMk/>
            <pc:sldMk cId="0" sldId="263"/>
            <ac:spMk id="5" creationId="{8253879B-C642-F627-38FF-6CE0C1D474A7}"/>
          </ac:spMkLst>
        </pc:spChg>
        <pc:spChg chg="add mod">
          <ac:chgData name="Rebecca Cloe" userId="d19bc6b765f9694a" providerId="LiveId" clId="{D04F2AD6-FFFE-4D84-90B3-85667944EE75}" dt="2025-06-17T22:57:52.982" v="353" actId="20577"/>
          <ac:spMkLst>
            <pc:docMk/>
            <pc:sldMk cId="0" sldId="263"/>
            <ac:spMk id="6" creationId="{1CFA1D90-CAD4-9330-FD1D-852EFC136F2D}"/>
          </ac:spMkLst>
        </pc:spChg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3"/>
            <ac:spMk id="110" creationId="{00000000-0000-0000-0000-000000000000}"/>
          </ac:spMkLst>
        </pc:spChg>
        <pc:picChg chg="mod">
          <ac:chgData name="Rebecca Cloe" userId="d19bc6b765f9694a" providerId="LiveId" clId="{D04F2AD6-FFFE-4D84-90B3-85667944EE75}" dt="2025-06-17T22:28:08.129" v="176" actId="1076"/>
          <ac:picMkLst>
            <pc:docMk/>
            <pc:sldMk cId="0" sldId="263"/>
            <ac:picMk id="111" creationId="{00000000-0000-0000-0000-000000000000}"/>
          </ac:picMkLst>
        </pc:picChg>
        <pc:picChg chg="mod">
          <ac:chgData name="Rebecca Cloe" userId="d19bc6b765f9694a" providerId="LiveId" clId="{D04F2AD6-FFFE-4D84-90B3-85667944EE75}" dt="2025-06-17T22:28:10.831" v="177" actId="1076"/>
          <ac:picMkLst>
            <pc:docMk/>
            <pc:sldMk cId="0" sldId="263"/>
            <ac:picMk id="112" creationId="{00000000-0000-0000-0000-000000000000}"/>
          </ac:picMkLst>
        </pc:picChg>
        <pc:picChg chg="mod">
          <ac:chgData name="Rebecca Cloe" userId="d19bc6b765f9694a" providerId="LiveId" clId="{D04F2AD6-FFFE-4D84-90B3-85667944EE75}" dt="2025-06-17T22:28:13.812" v="178" actId="1076"/>
          <ac:picMkLst>
            <pc:docMk/>
            <pc:sldMk cId="0" sldId="263"/>
            <ac:picMk id="113" creationId="{00000000-0000-0000-0000-000000000000}"/>
          </ac:picMkLst>
        </pc:picChg>
      </pc:sldChg>
      <pc:sldChg chg="addSp delSp modSp mod setBg setClrOvrMap modNotes">
        <pc:chgData name="Rebecca Cloe" userId="d19bc6b765f9694a" providerId="LiveId" clId="{D04F2AD6-FFFE-4D84-90B3-85667944EE75}" dt="2025-06-17T23:30:23.297" v="454" actId="20577"/>
        <pc:sldMkLst>
          <pc:docMk/>
          <pc:sldMk cId="0" sldId="264"/>
        </pc:sldMkLst>
        <pc:spChg chg="mo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18" creationId="{00000000-0000-0000-0000-000000000000}"/>
          </ac:spMkLst>
        </pc:spChg>
        <pc:spChg chg="mod ord">
          <ac:chgData name="Rebecca Cloe" userId="d19bc6b765f9694a" providerId="LiveId" clId="{D04F2AD6-FFFE-4D84-90B3-85667944EE75}" dt="2025-06-17T23:30:23.297" v="454" actId="20577"/>
          <ac:spMkLst>
            <pc:docMk/>
            <pc:sldMk cId="0" sldId="264"/>
            <ac:spMk id="119" creationId="{00000000-0000-0000-0000-000000000000}"/>
          </ac:spMkLst>
        </pc:spChg>
        <pc:spChg chg="add">
          <ac:chgData name="Rebecca Cloe" userId="d19bc6b765f9694a" providerId="LiveId" clId="{D04F2AD6-FFFE-4D84-90B3-85667944EE75}" dt="2025-06-17T22:59:13.724" v="360" actId="26606"/>
          <ac:spMkLst>
            <pc:docMk/>
            <pc:sldMk cId="0" sldId="264"/>
            <ac:spMk id="135" creationId="{079CE317-680B-449C-A423-71C1FE069B4C}"/>
          </ac:spMkLst>
        </pc:spChg>
        <pc:spChg chg="add del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37" creationId="{643780CE-2BE5-46F6-97B2-60DF30217ED3}"/>
          </ac:spMkLst>
        </pc:spChg>
        <pc:spChg chg="add del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39" creationId="{61A87A49-68E6-459E-A5A6-46229FF42125}"/>
          </ac:spMkLst>
        </pc:spChg>
        <pc:spChg chg="add">
          <ac:chgData name="Rebecca Cloe" userId="d19bc6b765f9694a" providerId="LiveId" clId="{D04F2AD6-FFFE-4D84-90B3-85667944EE75}" dt="2025-06-17T22:59:13.724" v="360" actId="26606"/>
          <ac:spMkLst>
            <pc:docMk/>
            <pc:sldMk cId="0" sldId="264"/>
            <ac:spMk id="141" creationId="{F6ACD5FC-CAFE-48EB-B765-60EED2E052F0}"/>
          </ac:spMkLst>
        </pc:spChg>
        <pc:spChg chg="add del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43" creationId="{9F33B405-D785-4738-B1C0-6A0AA5E98286}"/>
          </ac:spMkLst>
        </pc:spChg>
        <pc:spChg chg="add">
          <ac:chgData name="Rebecca Cloe" userId="d19bc6b765f9694a" providerId="LiveId" clId="{D04F2AD6-FFFE-4D84-90B3-85667944EE75}" dt="2025-06-17T22:59:13.724" v="360" actId="26606"/>
          <ac:spMkLst>
            <pc:docMk/>
            <pc:sldMk cId="0" sldId="264"/>
            <ac:spMk id="145" creationId="{4233DC0E-DE6C-4FB6-A529-51B162641AB8}"/>
          </ac:spMkLst>
        </pc:spChg>
        <pc:spChg chg="add">
          <ac:chgData name="Rebecca Cloe" userId="d19bc6b765f9694a" providerId="LiveId" clId="{D04F2AD6-FFFE-4D84-90B3-85667944EE75}" dt="2025-06-17T22:59:13.724" v="360" actId="26606"/>
          <ac:spMkLst>
            <pc:docMk/>
            <pc:sldMk cId="0" sldId="264"/>
            <ac:spMk id="147" creationId="{3870477F-E451-4BC3-863F-0E2FC572884B}"/>
          </ac:spMkLst>
        </pc:spChg>
        <pc:spChg chg="add">
          <ac:chgData name="Rebecca Cloe" userId="d19bc6b765f9694a" providerId="LiveId" clId="{D04F2AD6-FFFE-4D84-90B3-85667944EE75}" dt="2025-06-17T22:59:13.724" v="360" actId="26606"/>
          <ac:spMkLst>
            <pc:docMk/>
            <pc:sldMk cId="0" sldId="264"/>
            <ac:spMk id="149" creationId="{B4A81DE1-E2BC-4A31-99EE-71350421B0EA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65" creationId="{079CE317-680B-449C-A423-71C1FE069B4C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69" creationId="{B8DD7FEB-D9F3-4F5B-982C-36B0664D0205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71" creationId="{96BA11E4-0636-4FA9-A836-2A4FB176449A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73" creationId="{5681882E-BDD0-4311-AF62-E8019628524D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77" creationId="{283DA7DD-CA37-4ED7-8710-48E56B063BA4}"/>
          </ac:spMkLst>
        </pc:spChg>
        <pc:spChg chg="add">
          <ac:chgData name="Rebecca Cloe" userId="d19bc6b765f9694a" providerId="LiveId" clId="{D04F2AD6-FFFE-4D84-90B3-85667944EE75}" dt="2025-06-17T23:02:09.802" v="368" actId="26606"/>
          <ac:spMkLst>
            <pc:docMk/>
            <pc:sldMk cId="0" sldId="264"/>
            <ac:spMk id="179" creationId="{B92F2E3C-66CD-4DEB-BA14-2A5912B65A21}"/>
          </ac:spMkLst>
        </pc:spChg>
        <pc:picChg chg="add mod">
          <ac:chgData name="Rebecca Cloe" userId="d19bc6b765f9694a" providerId="LiveId" clId="{D04F2AD6-FFFE-4D84-90B3-85667944EE75}" dt="2025-06-17T23:04:03.303" v="450" actId="14100"/>
          <ac:picMkLst>
            <pc:docMk/>
            <pc:sldMk cId="0" sldId="264"/>
            <ac:picMk id="3" creationId="{D3D351F0-6A21-0944-86B7-9796D1D2CD1F}"/>
          </ac:picMkLst>
        </pc:picChg>
      </pc:sldChg>
      <pc:sldChg chg="modSp mod modNotes">
        <pc:chgData name="Rebecca Cloe" userId="d19bc6b765f9694a" providerId="LiveId" clId="{D04F2AD6-FFFE-4D84-90B3-85667944EE75}" dt="2025-06-17T22:39:46.537" v="243" actId="20577"/>
        <pc:sldMkLst>
          <pc:docMk/>
          <pc:sldMk cId="0" sldId="265"/>
        </pc:sldMkLst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5"/>
            <ac:spMk id="124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39:46.537" v="243" actId="20577"/>
          <ac:spMkLst>
            <pc:docMk/>
            <pc:sldMk cId="0" sldId="265"/>
            <ac:spMk id="125" creationId="{00000000-0000-0000-0000-000000000000}"/>
          </ac:spMkLst>
        </pc:spChg>
      </pc:sldChg>
      <pc:sldChg chg="addSp modSp mod modNotes">
        <pc:chgData name="Rebecca Cloe" userId="d19bc6b765f9694a" providerId="LiveId" clId="{D04F2AD6-FFFE-4D84-90B3-85667944EE75}" dt="2025-06-17T22:53:15.311" v="347" actId="20577"/>
        <pc:sldMkLst>
          <pc:docMk/>
          <pc:sldMk cId="0" sldId="266"/>
        </pc:sldMkLst>
        <pc:spChg chg="add">
          <ac:chgData name="Rebecca Cloe" userId="d19bc6b765f9694a" providerId="LiveId" clId="{D04F2AD6-FFFE-4D84-90B3-85667944EE75}" dt="2025-06-17T22:47:35.746" v="300"/>
          <ac:spMkLst>
            <pc:docMk/>
            <pc:sldMk cId="0" sldId="266"/>
            <ac:spMk id="2" creationId="{1652E0E6-8993-0C95-E661-7B291B3651E9}"/>
          </ac:spMkLst>
        </pc:spChg>
        <pc:spChg chg="add">
          <ac:chgData name="Rebecca Cloe" userId="d19bc6b765f9694a" providerId="LiveId" clId="{D04F2AD6-FFFE-4D84-90B3-85667944EE75}" dt="2025-06-17T22:47:41.018" v="302"/>
          <ac:spMkLst>
            <pc:docMk/>
            <pc:sldMk cId="0" sldId="266"/>
            <ac:spMk id="3" creationId="{C5E5A2B0-CEB7-8CB0-D01E-AE9BB2D5F094}"/>
          </ac:spMkLst>
        </pc:spChg>
        <pc:spChg chg="mod">
          <ac:chgData name="Rebecca Cloe" userId="d19bc6b765f9694a" providerId="LiveId" clId="{D04F2AD6-FFFE-4D84-90B3-85667944EE75}" dt="2025-06-17T22:07:15.440" v="1"/>
          <ac:spMkLst>
            <pc:docMk/>
            <pc:sldMk cId="0" sldId="266"/>
            <ac:spMk id="131" creationId="{00000000-0000-0000-0000-000000000000}"/>
          </ac:spMkLst>
        </pc:spChg>
        <pc:spChg chg="mod">
          <ac:chgData name="Rebecca Cloe" userId="d19bc6b765f9694a" providerId="LiveId" clId="{D04F2AD6-FFFE-4D84-90B3-85667944EE75}" dt="2025-06-17T22:53:15.311" v="347" actId="20577"/>
          <ac:spMkLst>
            <pc:docMk/>
            <pc:sldMk cId="0" sldId="266"/>
            <ac:spMk id="13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62451ba5da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62451ba5da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62451ba5da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62451ba5da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62451ba5da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62451ba5da_1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62451ba5da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62451ba5da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62451ba5d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62451ba5d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62451ba5da_1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62451ba5da_1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62451ba5da_1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62451ba5da_1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62451ba5da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62451ba5da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2451ba5da_1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2451ba5da_1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62451ba5da_1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62451ba5da_1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574800"/>
            <a:ext cx="6619244" cy="2008236"/>
          </a:xfrm>
        </p:spPr>
        <p:txBody>
          <a:bodyPr anchor="b"/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7619239" y="1344169"/>
            <a:ext cx="742949" cy="2285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6713982" y="2420874"/>
            <a:ext cx="2894846" cy="2286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64406" y="221797"/>
            <a:ext cx="628649" cy="575765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1856577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16" y="1952625"/>
            <a:ext cx="661924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81101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008234"/>
            <a:ext cx="3263269" cy="1712868"/>
          </a:xfrm>
        </p:spPr>
        <p:txBody>
          <a:bodyPr anchor="ctr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71670" y="2008233"/>
            <a:ext cx="2818159" cy="1712868"/>
          </a:xfrm>
        </p:spPr>
        <p:txBody>
          <a:bodyPr anchor="ctr"/>
          <a:lstStyle>
            <a:lvl1pPr marL="0" indent="0" algn="l">
              <a:buNone/>
              <a:defRPr sz="15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1862496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15" y="1952625"/>
            <a:ext cx="3618869" cy="256222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6535" y="1952625"/>
            <a:ext cx="3618869" cy="256222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2093404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361886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6215" y="2384822"/>
            <a:ext cx="3618869" cy="213002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56535" y="1952625"/>
            <a:ext cx="361886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56535" y="2384822"/>
            <a:ext cx="3618869" cy="2130029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2926592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571060" cy="530223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385516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Rectangle 6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55585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971550"/>
            <a:ext cx="2094869" cy="12001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5859" y="1085850"/>
            <a:ext cx="3892550" cy="3429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5" y="2346961"/>
            <a:ext cx="2094869" cy="2171699"/>
          </a:xfrm>
        </p:spPr>
        <p:txBody>
          <a:bodyPr/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07266065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270000"/>
            <a:ext cx="2898851" cy="1301750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10903" y="857250"/>
            <a:ext cx="2420395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66216" y="2743200"/>
            <a:ext cx="2894409" cy="1028700"/>
          </a:xfrm>
        </p:spPr>
        <p:txBody>
          <a:bodyPr>
            <a:normAutofit/>
          </a:bodyPr>
          <a:lstStyle>
            <a:lvl1pPr marL="0" indent="0">
              <a:buNone/>
              <a:defRPr sz="105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60522613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3727445"/>
            <a:ext cx="6619244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57175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4152499"/>
            <a:ext cx="6619244" cy="370284"/>
          </a:xfrm>
        </p:spPr>
        <p:txBody>
          <a:bodyPr>
            <a:normAutofit/>
          </a:bodyPr>
          <a:lstStyle>
            <a:lvl1pPr marL="0" indent="0">
              <a:buNone/>
              <a:defRPr sz="9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1142395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1598" y="797563"/>
            <a:ext cx="6623862" cy="1029740"/>
          </a:xfrm>
        </p:spPr>
        <p:txBody>
          <a:bodyPr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657475"/>
            <a:ext cx="6619244" cy="1857375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8953278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661175" y="455502"/>
            <a:ext cx="601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7413344" y="1960341"/>
            <a:ext cx="489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6408" y="736600"/>
            <a:ext cx="6340430" cy="2022474"/>
          </a:xfrm>
        </p:spPr>
        <p:txBody>
          <a:bodyPr/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459459" y="2759074"/>
            <a:ext cx="5798414" cy="256631"/>
          </a:xfrm>
        </p:spPr>
        <p:txBody>
          <a:bodyPr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771899"/>
            <a:ext cx="6933673" cy="748393"/>
          </a:xfrm>
        </p:spPr>
        <p:txBody>
          <a:bodyPr anchor="ctr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53574504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778000"/>
            <a:ext cx="6619245" cy="136688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768725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7032166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1952626"/>
            <a:ext cx="235640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866215" y="2384823"/>
            <a:ext cx="2356409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4541" y="1952625"/>
            <a:ext cx="236025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4541" y="2384823"/>
            <a:ext cx="2360257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16101" y="1952626"/>
            <a:ext cx="235929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16247" y="2384822"/>
            <a:ext cx="2359152" cy="2135470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302978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829301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92240417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5" y="3399633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00915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866215" y="3831830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26649" y="3399634"/>
            <a:ext cx="22878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561347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427629" y="3831829"/>
            <a:ext cx="2287829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7082" y="3399634"/>
            <a:ext cx="228832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22273" y="1952625"/>
            <a:ext cx="2018432" cy="1193633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87081" y="3831828"/>
            <a:ext cx="2288322" cy="6884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3304373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5848352" y="1927225"/>
            <a:ext cx="0" cy="261937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20833" y="4793879"/>
            <a:ext cx="2733212" cy="228601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0949064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730251"/>
            <a:ext cx="6619244" cy="53022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1952625"/>
            <a:ext cx="6619244" cy="2562225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21580" y="4793879"/>
            <a:ext cx="742949" cy="228599"/>
          </a:xfrm>
        </p:spPr>
        <p:txBody>
          <a:bodyPr/>
          <a:lstStyle/>
          <a:p>
            <a:fld id="{53086D93-FCAC-47E0-A2EE-787E62CA814C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8950702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38927" y="958850"/>
            <a:ext cx="1057474" cy="3561443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16" y="958850"/>
            <a:ext cx="4692019" cy="35614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9829" y="4793879"/>
            <a:ext cx="744101" cy="228599"/>
          </a:xfrm>
        </p:spPr>
        <p:txBody>
          <a:bodyPr/>
          <a:lstStyle/>
          <a:p>
            <a:fld id="{CDA879A6-0FD0-4734-A311-86BFCA472E6E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3235967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04153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2268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jpe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1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866216" y="730251"/>
            <a:ext cx="6571060" cy="5302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1952625"/>
            <a:ext cx="6571060" cy="2562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89829" y="4793879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6/17/2025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0833" y="4793879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bg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61180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sz="27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3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05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9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1334100" y="638600"/>
            <a:ext cx="6475800" cy="66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120" b="1"/>
              <a:t>Credit Card Fraud Detection</a:t>
            </a:r>
            <a:endParaRPr sz="3120" b="1"/>
          </a:p>
        </p:txBody>
      </p:sp>
      <p:sp>
        <p:nvSpPr>
          <p:cNvPr id="60" name="Google Shape;60;p13"/>
          <p:cNvSpPr txBox="1"/>
          <p:nvPr/>
        </p:nvSpPr>
        <p:spPr>
          <a:xfrm>
            <a:off x="2436872" y="1743704"/>
            <a:ext cx="4470300" cy="6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Leveraging AI-Driven Solution to Detect and Prevent Fraud</a:t>
            </a:r>
            <a:endParaRPr sz="1600" dirty="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1131000" y="2993951"/>
            <a:ext cx="6882000" cy="16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Average"/>
                <a:ea typeface="Average"/>
                <a:cs typeface="Average"/>
                <a:sym typeface="Average"/>
              </a:rPr>
              <a:t>Rebecca Cloe, Greg Bauer, Birendra Khimding</a:t>
            </a:r>
            <a:endParaRPr sz="1600" dirty="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Average"/>
                <a:ea typeface="Average"/>
                <a:cs typeface="Average"/>
                <a:sym typeface="Average"/>
              </a:rPr>
              <a:t>Shiley-Marcos School of Engineering, University of San Diego</a:t>
            </a:r>
            <a:endParaRPr sz="1600" dirty="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Average"/>
                <a:ea typeface="Average"/>
                <a:cs typeface="Average"/>
                <a:sym typeface="Average"/>
              </a:rPr>
              <a:t>AAI-510 Machine Learning Fundamentals and Applications</a:t>
            </a:r>
            <a:endParaRPr sz="1600" dirty="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latin typeface="Average"/>
                <a:ea typeface="Average"/>
                <a:cs typeface="Average"/>
                <a:sym typeface="Average"/>
              </a:rPr>
              <a:t>Professor Mirsardar Esmaeili</a:t>
            </a:r>
            <a:endParaRPr sz="1600" dirty="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311700" y="2955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Introduction</a:t>
            </a:r>
            <a:endParaRPr sz="25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500"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453750" y="1960750"/>
            <a:ext cx="4936500" cy="30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Credit card fraud results in billions of dollars in loss every year globally.</a:t>
            </a: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endParaRPr lang="en" sz="1400" dirty="0">
              <a:solidFill>
                <a:schemeClr val="dk1"/>
              </a:solidFill>
            </a:endParaRPr>
          </a:p>
          <a:p>
            <a:pPr lvl="0" indent="-317500">
              <a:buClr>
                <a:schemeClr val="dk1"/>
              </a:buClr>
              <a:buSzPts val="1400"/>
            </a:pPr>
            <a:r>
              <a:rPr lang="en-US" dirty="0"/>
              <a:t>Credit card fraud detection is a critical task for financial institutions due to its potential for large monetary losses and compromised customer trust.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With the increase in online transactions, organizations are more exposed to fraudulent activity.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Early detection of fraudulent transactions is important. </a:t>
            </a:r>
            <a:endParaRPr sz="1400" dirty="0">
              <a:solidFill>
                <a:schemeClr val="dk1"/>
              </a:solidFill>
            </a:endParaRPr>
          </a:p>
        </p:txBody>
      </p:sp>
      <p:pic>
        <p:nvPicPr>
          <p:cNvPr id="68" name="Google Shape;68;p14" title="credit-card-fraud-detection.jpg"/>
          <p:cNvPicPr preferRelativeResize="0"/>
          <p:nvPr/>
        </p:nvPicPr>
        <p:blipFill rotWithShape="1">
          <a:blip r:embed="rId3">
            <a:alphaModFix amt="91000"/>
          </a:blip>
          <a:srcRect l="-796"/>
          <a:stretch/>
        </p:blipFill>
        <p:spPr>
          <a:xfrm>
            <a:off x="5742350" y="1796275"/>
            <a:ext cx="3289500" cy="2891100"/>
          </a:xfrm>
          <a:prstGeom prst="ellipse">
            <a:avLst/>
          </a:prstGeom>
          <a:noFill/>
          <a:ln>
            <a:noFill/>
          </a:ln>
          <a:effectLst>
            <a:outerShdw blurRad="57150" dist="19050" algn="bl" rotWithShape="0">
              <a:schemeClr val="dk1">
                <a:alpha val="41000"/>
              </a:schemeClr>
            </a:outerShdw>
          </a:effectLst>
        </p:spPr>
      </p:pic>
      <p:sp>
        <p:nvSpPr>
          <p:cNvPr id="69" name="Google Shape;69;p14"/>
          <p:cNvSpPr txBox="1"/>
          <p:nvPr/>
        </p:nvSpPr>
        <p:spPr>
          <a:xfrm>
            <a:off x="1802250" y="829825"/>
            <a:ext cx="5629200" cy="3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Protecting Customer &amp; Profit against Credit Card Fraud</a:t>
            </a:r>
            <a:endParaRPr sz="18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Business Problem</a:t>
            </a:r>
            <a:endParaRPr sz="25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500"/>
          </a:p>
        </p:txBody>
      </p:sp>
      <p:sp>
        <p:nvSpPr>
          <p:cNvPr id="75" name="Google Shape;75;p15"/>
          <p:cNvSpPr txBox="1">
            <a:spLocks noGrp="1"/>
          </p:cNvSpPr>
          <p:nvPr>
            <p:ph type="body" idx="1"/>
          </p:nvPr>
        </p:nvSpPr>
        <p:spPr>
          <a:xfrm>
            <a:off x="938700" y="1801724"/>
            <a:ext cx="7262400" cy="31166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532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5"/>
              <a:buChar char="●"/>
            </a:pPr>
            <a:r>
              <a:rPr lang="en" sz="1495" dirty="0">
                <a:solidFill>
                  <a:schemeClr val="dk1"/>
                </a:solidFill>
              </a:rPr>
              <a:t>A single fraudulent transaction can damage customer trust and confidence.</a:t>
            </a:r>
          </a:p>
          <a:p>
            <a:pPr marL="457200" lvl="0" indent="-323532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95"/>
              <a:buChar char="●"/>
            </a:pPr>
            <a:r>
              <a:rPr lang="en" sz="1495" dirty="0">
                <a:solidFill>
                  <a:schemeClr val="dk1"/>
                </a:solidFill>
              </a:rPr>
              <a:t>Detecting fraud manually is time consuming and expensive.</a:t>
            </a:r>
            <a:endParaRPr sz="1495" dirty="0">
              <a:solidFill>
                <a:schemeClr val="dk1"/>
              </a:solidFill>
            </a:endParaRPr>
          </a:p>
          <a:p>
            <a:pPr marL="457200" lvl="0" indent="-323532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95"/>
              <a:buChar char="●"/>
            </a:pPr>
            <a:r>
              <a:rPr lang="en" sz="1495" dirty="0">
                <a:solidFill>
                  <a:schemeClr val="dk1"/>
                </a:solidFill>
              </a:rPr>
              <a:t>As technology advances, the fraud implementation are getting sophisticated and harder to detect.</a:t>
            </a:r>
            <a:endParaRPr sz="1595" dirty="0">
              <a:solidFill>
                <a:schemeClr val="dk1"/>
              </a:solidFill>
            </a:endParaRPr>
          </a:p>
          <a:p>
            <a:pPr marL="457200" lvl="0" indent="-323532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95"/>
              <a:buChar char="●"/>
            </a:pPr>
            <a:r>
              <a:rPr lang="en" sz="1495" dirty="0">
                <a:solidFill>
                  <a:schemeClr val="dk1"/>
                </a:solidFill>
              </a:rPr>
              <a:t>Detecting fraud early and accurately is crucial for both customers and organizations.</a:t>
            </a:r>
          </a:p>
          <a:p>
            <a:pPr indent="-323532">
              <a:lnSpc>
                <a:spcPct val="80000"/>
              </a:lnSpc>
              <a:spcBef>
                <a:spcPts val="1200"/>
              </a:spcBef>
              <a:buClr>
                <a:schemeClr val="dk1"/>
              </a:buClr>
              <a:buSzPts val="1495"/>
            </a:pPr>
            <a:r>
              <a:rPr lang="en-US" sz="1600" dirty="0"/>
              <a:t>The challenge lies in identifying rare fraudulent transactions in a dataset overwhelmingly dominated by legitimate ones. </a:t>
            </a:r>
            <a:endParaRPr lang="en-US" sz="1800" dirty="0">
              <a:solidFill>
                <a:schemeClr val="dk1"/>
              </a:solidFill>
            </a:endParaRPr>
          </a:p>
          <a:p>
            <a:pPr marL="457200" lvl="0" indent="-323532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95"/>
              <a:buChar char="●"/>
            </a:pPr>
            <a:endParaRPr sz="1495" dirty="0">
              <a:solidFill>
                <a:schemeClr val="dk1"/>
              </a:solidFill>
            </a:endParaRPr>
          </a:p>
        </p:txBody>
      </p:sp>
      <p:sp>
        <p:nvSpPr>
          <p:cNvPr id="76" name="Google Shape;76;p15"/>
          <p:cNvSpPr txBox="1"/>
          <p:nvPr/>
        </p:nvSpPr>
        <p:spPr>
          <a:xfrm>
            <a:off x="1991100" y="912075"/>
            <a:ext cx="5161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Rising Credit Card Fraud Threatens Financial Trust</a:t>
            </a:r>
            <a:endParaRPr sz="18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Our Goal</a:t>
            </a:r>
            <a:endParaRPr sz="2500"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812599" y="1898900"/>
            <a:ext cx="4819273" cy="277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17500">
              <a:buClr>
                <a:schemeClr val="dk1"/>
              </a:buClr>
              <a:buSzPts val="1400"/>
            </a:pPr>
            <a:r>
              <a:rPr lang="en-US" dirty="0"/>
              <a:t>The goal was to develop a machine learning model that accurately identifies fraudulent activity while minimizing false positives.</a:t>
            </a:r>
          </a:p>
          <a:p>
            <a:pPr lvl="0" indent="-317500">
              <a:buClr>
                <a:schemeClr val="dk1"/>
              </a:buClr>
              <a:buSzPts val="1400"/>
            </a:pPr>
            <a:endParaRPr lang="en" sz="1400"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" sz="1350" dirty="0"/>
              <a:t>Detect fraud accurately and quickly.</a:t>
            </a:r>
          </a:p>
          <a:p>
            <a:pPr lvl="1">
              <a:buClr>
                <a:schemeClr val="dk1"/>
              </a:buClr>
            </a:pPr>
            <a:endParaRPr dirty="0"/>
          </a:p>
          <a:p>
            <a:pPr lvl="1">
              <a:buClr>
                <a:schemeClr val="dk1"/>
              </a:buClr>
            </a:pPr>
            <a:r>
              <a:rPr lang="en" sz="1350" dirty="0"/>
              <a:t>Reduce false detection.</a:t>
            </a:r>
          </a:p>
          <a:p>
            <a:pPr marL="596900" lvl="1" indent="0">
              <a:buClr>
                <a:schemeClr val="dk1"/>
              </a:buClr>
              <a:buNone/>
            </a:pPr>
            <a:r>
              <a:rPr lang="en" dirty="0"/>
              <a:t> </a:t>
            </a:r>
            <a:endParaRPr sz="1350" dirty="0"/>
          </a:p>
          <a:p>
            <a:pPr lvl="1">
              <a:buClr>
                <a:schemeClr val="dk1"/>
              </a:buClr>
            </a:pPr>
            <a:r>
              <a:rPr lang="en" sz="1350" dirty="0"/>
              <a:t>Work on large amount of data in real time</a:t>
            </a:r>
            <a:r>
              <a:rPr lang="en" dirty="0"/>
              <a:t>.</a:t>
            </a:r>
            <a:endParaRPr dirty="0"/>
          </a:p>
        </p:txBody>
      </p:sp>
      <p:pic>
        <p:nvPicPr>
          <p:cNvPr id="83" name="Google Shape;83;p16" title="checklist-41335_1280.png"/>
          <p:cNvPicPr preferRelativeResize="0"/>
          <p:nvPr/>
        </p:nvPicPr>
        <p:blipFill>
          <a:blip r:embed="rId3">
            <a:alphaModFix amt="91000"/>
          </a:blip>
          <a:stretch>
            <a:fillRect/>
          </a:stretch>
        </p:blipFill>
        <p:spPr>
          <a:xfrm>
            <a:off x="6051050" y="1659675"/>
            <a:ext cx="2717925" cy="287825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 txBox="1"/>
          <p:nvPr/>
        </p:nvSpPr>
        <p:spPr>
          <a:xfrm>
            <a:off x="2445000" y="971875"/>
            <a:ext cx="42540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rPr>
              <a:t>Detect Fraud Accurately and in Real Time</a:t>
            </a:r>
            <a:endParaRPr sz="1800">
              <a:solidFill>
                <a:schemeClr val="accent3"/>
              </a:solidFill>
              <a:latin typeface="Average"/>
              <a:ea typeface="Average"/>
              <a:cs typeface="Average"/>
              <a:sym typeface="Averag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400"/>
              <a:t>Dataset</a:t>
            </a:r>
            <a:endParaRPr sz="2400"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>
            <a:off x="311700" y="1870364"/>
            <a:ext cx="3942300" cy="29130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17500">
              <a:buClr>
                <a:schemeClr val="dk1"/>
              </a:buClr>
              <a:buSzPts val="1400"/>
            </a:pPr>
            <a:r>
              <a:rPr lang="en-US" sz="1400" dirty="0"/>
              <a:t>The dataset contains two days of credit card transactions, with fraud cases making up just 0.17%.</a:t>
            </a:r>
          </a:p>
          <a:p>
            <a:pPr lvl="0" indent="-317500">
              <a:buClr>
                <a:schemeClr val="dk1"/>
              </a:buClr>
              <a:buSzPts val="1400"/>
            </a:pPr>
            <a:endParaRPr lang="en-US" sz="1400" dirty="0"/>
          </a:p>
          <a:p>
            <a:pPr lvl="0" indent="-317500">
              <a:buClr>
                <a:schemeClr val="dk1"/>
              </a:buClr>
              <a:buSzPts val="1400"/>
            </a:pPr>
            <a:r>
              <a:rPr lang="en-US" sz="1400" dirty="0"/>
              <a:t>Transactional data was transformed to protect customer privacy</a:t>
            </a:r>
            <a:r>
              <a:rPr lang="en" sz="1400" dirty="0">
                <a:solidFill>
                  <a:schemeClr val="dk1"/>
                </a:solidFill>
              </a:rPr>
              <a:t>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Key data are:</a:t>
            </a:r>
            <a:endParaRPr sz="1400"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Time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Transactions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Amount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Class (Target)</a:t>
            </a:r>
            <a:endParaRPr dirty="0">
              <a:solidFill>
                <a:schemeClr val="dk1"/>
              </a:solidFill>
            </a:endParaRPr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98925" y="1454200"/>
            <a:ext cx="4585201" cy="3225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Challenges</a:t>
            </a:r>
            <a:endParaRPr sz="2500"/>
          </a:p>
        </p:txBody>
      </p:sp>
      <p:sp>
        <p:nvSpPr>
          <p:cNvPr id="97" name="Google Shape;97;p18"/>
          <p:cNvSpPr txBox="1">
            <a:spLocks noGrp="1"/>
          </p:cNvSpPr>
          <p:nvPr>
            <p:ph type="body" idx="1"/>
          </p:nvPr>
        </p:nvSpPr>
        <p:spPr>
          <a:xfrm>
            <a:off x="554183" y="2015836"/>
            <a:ext cx="4017817" cy="22375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High imbalance data:</a:t>
            </a:r>
            <a:endParaRPr sz="1400" dirty="0">
              <a:solidFill>
                <a:schemeClr val="dk1"/>
              </a:solidFill>
            </a:endParaRPr>
          </a:p>
          <a:p>
            <a:pPr lvl="1">
              <a:buClr>
                <a:schemeClr val="dk1"/>
              </a:buClr>
            </a:pPr>
            <a:r>
              <a:rPr lang="en-US" dirty="0">
                <a:solidFill>
                  <a:schemeClr val="dk1"/>
                </a:solidFill>
              </a:rPr>
              <a:t>Fraudulent transactions make up only a small fraction of the overall dataset</a:t>
            </a:r>
            <a:r>
              <a:rPr lang="en" dirty="0">
                <a:solidFill>
                  <a:schemeClr val="dk1"/>
                </a:solidFill>
              </a:rPr>
              <a:t>.</a:t>
            </a:r>
            <a:endParaRPr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Transformed features limits the ability to complete a detailed feature analysis.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Identifying all fraudulent transactions is crucial.</a:t>
            </a:r>
            <a:endParaRPr sz="1400" dirty="0">
              <a:solidFill>
                <a:schemeClr val="dk1"/>
              </a:solidFill>
            </a:endParaRPr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8704" y="1548797"/>
            <a:ext cx="3788300" cy="334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Our Approach</a:t>
            </a:r>
            <a:endParaRPr sz="2500"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1"/>
          </p:nvPr>
        </p:nvSpPr>
        <p:spPr>
          <a:xfrm>
            <a:off x="664991" y="1734365"/>
            <a:ext cx="3770100" cy="28168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lvl="0" indent="-317500">
              <a:buClr>
                <a:schemeClr val="dk1"/>
              </a:buClr>
              <a:buSzPts val="1400"/>
            </a:pPr>
            <a:r>
              <a:rPr lang="en-US" sz="1400" dirty="0"/>
              <a:t>Conducted data analysis to uncover transaction patterns and trends</a:t>
            </a:r>
            <a:r>
              <a:rPr lang="en" sz="1400" dirty="0">
                <a:solidFill>
                  <a:schemeClr val="dk1"/>
                </a:solidFill>
              </a:rPr>
              <a:t>.</a:t>
            </a:r>
            <a:endParaRPr sz="1400" dirty="0">
              <a:solidFill>
                <a:schemeClr val="dk1"/>
              </a:solidFill>
            </a:endParaRPr>
          </a:p>
          <a:p>
            <a:pPr lvl="0" indent="-317500">
              <a:spcBef>
                <a:spcPts val="1200"/>
              </a:spcBef>
              <a:buClr>
                <a:schemeClr val="dk1"/>
              </a:buClr>
              <a:buSzPts val="1400"/>
            </a:pPr>
            <a:r>
              <a:rPr lang="en-US" sz="1400" dirty="0"/>
              <a:t>Implemented techniques to correct the imbalance between fraudulent and legitimate transactions</a:t>
            </a:r>
            <a:r>
              <a:rPr lang="en" sz="1400" dirty="0">
                <a:solidFill>
                  <a:schemeClr val="dk1"/>
                </a:solidFill>
              </a:rPr>
              <a:t>.</a:t>
            </a:r>
            <a:endParaRPr sz="1400" dirty="0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" sz="1400" dirty="0">
                <a:solidFill>
                  <a:schemeClr val="dk1"/>
                </a:solidFill>
              </a:rPr>
              <a:t>Evaluated different models:</a:t>
            </a:r>
            <a:endParaRPr sz="1400"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Logistic Regression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XGboost</a:t>
            </a:r>
            <a:endParaRPr dirty="0">
              <a:solidFill>
                <a:schemeClr val="dk1"/>
              </a:solidFill>
            </a:endParaRPr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en" dirty="0">
                <a:solidFill>
                  <a:schemeClr val="dk1"/>
                </a:solidFill>
              </a:rPr>
              <a:t>SVM</a:t>
            </a:r>
            <a:endParaRPr dirty="0">
              <a:solidFill>
                <a:schemeClr val="dk1"/>
              </a:solidFill>
            </a:endParaRPr>
          </a:p>
          <a:p>
            <a:pPr lvl="0" indent="-317500">
              <a:spcBef>
                <a:spcPts val="1200"/>
              </a:spcBef>
              <a:buClr>
                <a:schemeClr val="dk1"/>
              </a:buClr>
              <a:buSzPts val="1400"/>
            </a:pPr>
            <a:r>
              <a:rPr lang="en-US" sz="1400" dirty="0"/>
              <a:t>Prioritized finding a model capable of accurately identifying the majority of fraudulent transactions</a:t>
            </a:r>
            <a:r>
              <a:rPr lang="en" sz="1400" dirty="0">
                <a:solidFill>
                  <a:schemeClr val="dk1"/>
                </a:solidFill>
              </a:rPr>
              <a:t>.</a:t>
            </a:r>
            <a:endParaRPr sz="1400" dirty="0">
              <a:solidFill>
                <a:schemeClr val="dk1"/>
              </a:solidFill>
            </a:endParaRPr>
          </a:p>
        </p:txBody>
      </p:sp>
      <p:pic>
        <p:nvPicPr>
          <p:cNvPr id="105" name="Google Shape;105;p19" title="1692101681340.jpg"/>
          <p:cNvPicPr preferRelativeResize="0"/>
          <p:nvPr/>
        </p:nvPicPr>
        <p:blipFill>
          <a:blip r:embed="rId3">
            <a:alphaModFix amt="91000"/>
          </a:blip>
          <a:stretch>
            <a:fillRect/>
          </a:stretch>
        </p:blipFill>
        <p:spPr>
          <a:xfrm>
            <a:off x="5315450" y="1170125"/>
            <a:ext cx="3618300" cy="3188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Results</a:t>
            </a:r>
            <a:endParaRPr sz="2500"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325" y="1017725"/>
            <a:ext cx="2803525" cy="325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08250" y="1026051"/>
            <a:ext cx="2803525" cy="325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64175" y="1026051"/>
            <a:ext cx="3027425" cy="3255675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38FC28-A42C-6C53-6F06-B22561BE3078}"/>
              </a:ext>
            </a:extLst>
          </p:cNvPr>
          <p:cNvSpPr txBox="1"/>
          <p:nvPr/>
        </p:nvSpPr>
        <p:spPr>
          <a:xfrm>
            <a:off x="6205812" y="4276869"/>
            <a:ext cx="25441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Support Vector Machine (SVM)</a:t>
            </a:r>
            <a:r>
              <a:rPr lang="en-US" sz="1000" dirty="0"/>
              <a:t> showed strong overall accuracy but struggled to catch many fraud cases, making it less effective for high-risk financial environment.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3879B-C642-F627-38FF-6CE0C1D474A7}"/>
              </a:ext>
            </a:extLst>
          </p:cNvPr>
          <p:cNvSpPr txBox="1"/>
          <p:nvPr/>
        </p:nvSpPr>
        <p:spPr>
          <a:xfrm>
            <a:off x="464100" y="4278175"/>
            <a:ext cx="25441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Logistic Regression</a:t>
            </a:r>
            <a:r>
              <a:rPr lang="en-US" sz="1000" dirty="0"/>
              <a:t> offered a reliable and easy to understand starting point.  After some fine-tuning, it performed well and helped establish a solid baseline for fraud detection.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A1D90-CAD4-9330-FD1D-852EFC136F2D}"/>
              </a:ext>
            </a:extLst>
          </p:cNvPr>
          <p:cNvSpPr txBox="1"/>
          <p:nvPr/>
        </p:nvSpPr>
        <p:spPr>
          <a:xfrm>
            <a:off x="3249887" y="4290052"/>
            <a:ext cx="269655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/>
              <a:t>XGBoost</a:t>
            </a:r>
            <a:r>
              <a:rPr lang="en-US" sz="1000" dirty="0"/>
              <a:t> delivered the strongest results, accurately identifying fraud while minimizing false alarms. It handled the data imbalance exceptionally well and is our top performing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DDA34B8A-FA8D-4E16-AD72-7B60B1C25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4000" cy="5143500"/>
            <a:chOff x="0" y="0"/>
            <a:chExt cx="12192000" cy="6858000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6885D229-60DD-4D71-8181-10E781C149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3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6" name="Oval 155">
              <a:extLst>
                <a:ext uri="{FF2B5EF4-FFF2-40B4-BE49-F238E27FC236}">
                  <a16:creationId xmlns:a16="http://schemas.microsoft.com/office/drawing/2014/main" id="{0B0DAA45-BE66-4F0C-93A6-519D94107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EF449A3D-A43B-4688-BD89-35734D007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8" name="Oval 157">
              <a:extLst>
                <a:ext uri="{FF2B5EF4-FFF2-40B4-BE49-F238E27FC236}">
                  <a16:creationId xmlns:a16="http://schemas.microsoft.com/office/drawing/2014/main" id="{74E9975C-AF3D-48EF-B3F0-112A01A382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9" name="Oval 158">
              <a:extLst>
                <a:ext uri="{FF2B5EF4-FFF2-40B4-BE49-F238E27FC236}">
                  <a16:creationId xmlns:a16="http://schemas.microsoft.com/office/drawing/2014/main" id="{CF00A076-2FEA-40D1-8F85-842481797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0" name="Oval 159">
              <a:extLst>
                <a:ext uri="{FF2B5EF4-FFF2-40B4-BE49-F238E27FC236}">
                  <a16:creationId xmlns:a16="http://schemas.microsoft.com/office/drawing/2014/main" id="{A2E68741-6133-4CAA-BF3C-F0E6CF40C5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1" name="Freeform 5">
              <a:extLst>
                <a:ext uri="{FF2B5EF4-FFF2-40B4-BE49-F238E27FC236}">
                  <a16:creationId xmlns:a16="http://schemas.microsoft.com/office/drawing/2014/main" id="{76C01C64-4A8B-42FC-93C5-2D6A3EBAB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2" name="Freeform 5">
              <a:extLst>
                <a:ext uri="{FF2B5EF4-FFF2-40B4-BE49-F238E27FC236}">
                  <a16:creationId xmlns:a16="http://schemas.microsoft.com/office/drawing/2014/main" id="{D969AEA9-C1EE-45E1-9964-D9705492E1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3" name="Freeform 5">
              <a:extLst>
                <a:ext uri="{FF2B5EF4-FFF2-40B4-BE49-F238E27FC236}">
                  <a16:creationId xmlns:a16="http://schemas.microsoft.com/office/drawing/2014/main" id="{4845E67D-4E5B-44B3-AB74-5E95C839E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5" name="Rectangle 164">
            <a:extLst>
              <a:ext uri="{FF2B5EF4-FFF2-40B4-BE49-F238E27FC236}">
                <a16:creationId xmlns:a16="http://schemas.microsoft.com/office/drawing/2014/main" id="{079CE317-680B-449C-A423-71C1FE069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38ABDB68-E3D5-448E-97D3-06FFEF6801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9" name="Freeform 5">
            <a:extLst>
              <a:ext uri="{FF2B5EF4-FFF2-40B4-BE49-F238E27FC236}">
                <a16:creationId xmlns:a16="http://schemas.microsoft.com/office/drawing/2014/main" id="{B8DD7FEB-D9F3-4F5B-982C-36B0664D02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5922489">
            <a:off x="4032572" y="1369559"/>
            <a:ext cx="2474555" cy="330693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1" name="Freeform 5">
            <a:extLst>
              <a:ext uri="{FF2B5EF4-FFF2-40B4-BE49-F238E27FC236}">
                <a16:creationId xmlns:a16="http://schemas.microsoft.com/office/drawing/2014/main" id="{96BA11E4-0636-4FA9-A836-2A4FB176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190"/>
            <a:ext cx="9144000" cy="5142310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479323" y="471948"/>
            <a:ext cx="4554582" cy="1216742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0" lvl="0" indent="0" defTabSz="457200">
              <a:spcBef>
                <a:spcPct val="0"/>
              </a:spcBef>
              <a:spcAft>
                <a:spcPts val="0"/>
              </a:spcAft>
              <a:buSzPts val="990"/>
            </a:pPr>
            <a:r>
              <a:rPr lang="en-US" sz="3600" b="0" i="0" kern="120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Best Model</a:t>
            </a: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5681882E-BDD0-4311-AF62-E8019628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4717577" y="732955"/>
            <a:ext cx="4540253" cy="3677591"/>
          </a:xfrm>
          <a:custGeom>
            <a:avLst/>
            <a:gdLst>
              <a:gd name="connsiteX0" fmla="*/ 6053670 w 6053670"/>
              <a:gd name="connsiteY0" fmla="*/ 1098 h 4903455"/>
              <a:gd name="connsiteX1" fmla="*/ 6053670 w 6053670"/>
              <a:gd name="connsiteY1" fmla="*/ 424590 h 4903455"/>
              <a:gd name="connsiteX2" fmla="*/ 6053670 w 6053670"/>
              <a:gd name="connsiteY2" fmla="*/ 1254558 h 4903455"/>
              <a:gd name="connsiteX3" fmla="*/ 6053670 w 6053670"/>
              <a:gd name="connsiteY3" fmla="*/ 4903455 h 4903455"/>
              <a:gd name="connsiteX4" fmla="*/ 0 w 6053670"/>
              <a:gd name="connsiteY4" fmla="*/ 4903455 h 4903455"/>
              <a:gd name="connsiteX5" fmla="*/ 0 w 6053670"/>
              <a:gd name="connsiteY5" fmla="*/ 1249853 h 4903455"/>
              <a:gd name="connsiteX6" fmla="*/ 0 w 6053670"/>
              <a:gd name="connsiteY6" fmla="*/ 424590 h 4903455"/>
              <a:gd name="connsiteX7" fmla="*/ 0 w 6053670"/>
              <a:gd name="connsiteY7" fmla="*/ 0 h 4903455"/>
              <a:gd name="connsiteX8" fmla="*/ 35717 w 6053670"/>
              <a:gd name="connsiteY8" fmla="*/ 5488 h 4903455"/>
              <a:gd name="connsiteX9" fmla="*/ 140445 w 6053670"/>
              <a:gd name="connsiteY9" fmla="*/ 21641 h 4903455"/>
              <a:gd name="connsiteX10" fmla="*/ 216722 w 6053670"/>
              <a:gd name="connsiteY10" fmla="*/ 32932 h 4903455"/>
              <a:gd name="connsiteX11" fmla="*/ 307527 w 6053670"/>
              <a:gd name="connsiteY11" fmla="*/ 44850 h 4903455"/>
              <a:gd name="connsiteX12" fmla="*/ 415282 w 6053670"/>
              <a:gd name="connsiteY12" fmla="*/ 59121 h 4903455"/>
              <a:gd name="connsiteX13" fmla="*/ 534539 w 6053670"/>
              <a:gd name="connsiteY13" fmla="*/ 74175 h 4903455"/>
              <a:gd name="connsiteX14" fmla="*/ 668931 w 6053670"/>
              <a:gd name="connsiteY14" fmla="*/ 90014 h 4903455"/>
              <a:gd name="connsiteX15" fmla="*/ 815430 w 6053670"/>
              <a:gd name="connsiteY15" fmla="*/ 106794 h 4903455"/>
              <a:gd name="connsiteX16" fmla="*/ 974641 w 6053670"/>
              <a:gd name="connsiteY16" fmla="*/ 123574 h 4903455"/>
              <a:gd name="connsiteX17" fmla="*/ 1144144 w 6053670"/>
              <a:gd name="connsiteY17" fmla="*/ 140667 h 4903455"/>
              <a:gd name="connsiteX18" fmla="*/ 1326965 w 6053670"/>
              <a:gd name="connsiteY18" fmla="*/ 156506 h 4903455"/>
              <a:gd name="connsiteX19" fmla="*/ 1518261 w 6053670"/>
              <a:gd name="connsiteY19" fmla="*/ 171717 h 4903455"/>
              <a:gd name="connsiteX20" fmla="*/ 1720453 w 6053670"/>
              <a:gd name="connsiteY20" fmla="*/ 185518 h 4903455"/>
              <a:gd name="connsiteX21" fmla="*/ 1931121 w 6053670"/>
              <a:gd name="connsiteY21" fmla="*/ 198690 h 4903455"/>
              <a:gd name="connsiteX22" fmla="*/ 2150869 w 6053670"/>
              <a:gd name="connsiteY22" fmla="*/ 211079 h 4903455"/>
              <a:gd name="connsiteX23" fmla="*/ 2263467 w 6053670"/>
              <a:gd name="connsiteY23" fmla="*/ 215470 h 4903455"/>
              <a:gd name="connsiteX24" fmla="*/ 2378487 w 6053670"/>
              <a:gd name="connsiteY24" fmla="*/ 220332 h 4903455"/>
              <a:gd name="connsiteX25" fmla="*/ 2495323 w 6053670"/>
              <a:gd name="connsiteY25" fmla="*/ 224879 h 4903455"/>
              <a:gd name="connsiteX26" fmla="*/ 2612764 w 6053670"/>
              <a:gd name="connsiteY26" fmla="*/ 227859 h 4903455"/>
              <a:gd name="connsiteX27" fmla="*/ 2732627 w 6053670"/>
              <a:gd name="connsiteY27" fmla="*/ 230525 h 4903455"/>
              <a:gd name="connsiteX28" fmla="*/ 2853700 w 6053670"/>
              <a:gd name="connsiteY28" fmla="*/ 233348 h 4903455"/>
              <a:gd name="connsiteX29" fmla="*/ 2977195 w 6053670"/>
              <a:gd name="connsiteY29" fmla="*/ 235229 h 4903455"/>
              <a:gd name="connsiteX30" fmla="*/ 3101900 w 6053670"/>
              <a:gd name="connsiteY30" fmla="*/ 235229 h 4903455"/>
              <a:gd name="connsiteX31" fmla="*/ 3227817 w 6053670"/>
              <a:gd name="connsiteY31" fmla="*/ 236170 h 4903455"/>
              <a:gd name="connsiteX32" fmla="*/ 3354944 w 6053670"/>
              <a:gd name="connsiteY32" fmla="*/ 235229 h 4903455"/>
              <a:gd name="connsiteX33" fmla="*/ 3483887 w 6053670"/>
              <a:gd name="connsiteY33" fmla="*/ 233348 h 4903455"/>
              <a:gd name="connsiteX34" fmla="*/ 3612830 w 6053670"/>
              <a:gd name="connsiteY34" fmla="*/ 231623 h 4903455"/>
              <a:gd name="connsiteX35" fmla="*/ 3743589 w 6053670"/>
              <a:gd name="connsiteY35" fmla="*/ 227859 h 4903455"/>
              <a:gd name="connsiteX36" fmla="*/ 3875559 w 6053670"/>
              <a:gd name="connsiteY36" fmla="*/ 223938 h 4903455"/>
              <a:gd name="connsiteX37" fmla="*/ 4007529 w 6053670"/>
              <a:gd name="connsiteY37" fmla="*/ 219391 h 4903455"/>
              <a:gd name="connsiteX38" fmla="*/ 4140710 w 6053670"/>
              <a:gd name="connsiteY38" fmla="*/ 212961 h 4903455"/>
              <a:gd name="connsiteX39" fmla="*/ 4275102 w 6053670"/>
              <a:gd name="connsiteY39" fmla="*/ 205277 h 4903455"/>
              <a:gd name="connsiteX40" fmla="*/ 4410098 w 6053670"/>
              <a:gd name="connsiteY40" fmla="*/ 197907 h 4903455"/>
              <a:gd name="connsiteX41" fmla="*/ 4545096 w 6053670"/>
              <a:gd name="connsiteY41" fmla="*/ 188498 h 4903455"/>
              <a:gd name="connsiteX42" fmla="*/ 4681909 w 6053670"/>
              <a:gd name="connsiteY42" fmla="*/ 177207 h 4903455"/>
              <a:gd name="connsiteX43" fmla="*/ 4816905 w 6053670"/>
              <a:gd name="connsiteY43" fmla="*/ 165916 h 4903455"/>
              <a:gd name="connsiteX44" fmla="*/ 4954323 w 6053670"/>
              <a:gd name="connsiteY44" fmla="*/ 152899 h 4903455"/>
              <a:gd name="connsiteX45" fmla="*/ 5092347 w 6053670"/>
              <a:gd name="connsiteY45" fmla="*/ 138629 h 4903455"/>
              <a:gd name="connsiteX46" fmla="*/ 5228555 w 6053670"/>
              <a:gd name="connsiteY46" fmla="*/ 123574 h 4903455"/>
              <a:gd name="connsiteX47" fmla="*/ 5366578 w 6053670"/>
              <a:gd name="connsiteY47" fmla="*/ 106010 h 4903455"/>
              <a:gd name="connsiteX48" fmla="*/ 5503997 w 6053670"/>
              <a:gd name="connsiteY48" fmla="*/ 87192 h 4903455"/>
              <a:gd name="connsiteX49" fmla="*/ 5642020 w 6053670"/>
              <a:gd name="connsiteY49" fmla="*/ 68530 h 4903455"/>
              <a:gd name="connsiteX50" fmla="*/ 5779438 w 6053670"/>
              <a:gd name="connsiteY50" fmla="*/ 46733 h 4903455"/>
              <a:gd name="connsiteX51" fmla="*/ 5916251 w 6053670"/>
              <a:gd name="connsiteY51" fmla="*/ 24464 h 49034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053670" h="4903455">
                <a:moveTo>
                  <a:pt x="6053670" y="1098"/>
                </a:moveTo>
                <a:lnTo>
                  <a:pt x="6053670" y="424590"/>
                </a:lnTo>
                <a:lnTo>
                  <a:pt x="6053670" y="1254558"/>
                </a:lnTo>
                <a:lnTo>
                  <a:pt x="6053670" y="4903455"/>
                </a:lnTo>
                <a:lnTo>
                  <a:pt x="0" y="4903455"/>
                </a:lnTo>
                <a:lnTo>
                  <a:pt x="0" y="1249853"/>
                </a:lnTo>
                <a:lnTo>
                  <a:pt x="0" y="424590"/>
                </a:lnTo>
                <a:lnTo>
                  <a:pt x="0" y="0"/>
                </a:lnTo>
                <a:lnTo>
                  <a:pt x="35717" y="5488"/>
                </a:lnTo>
                <a:lnTo>
                  <a:pt x="140445" y="21641"/>
                </a:lnTo>
                <a:lnTo>
                  <a:pt x="216722" y="32932"/>
                </a:lnTo>
                <a:lnTo>
                  <a:pt x="307527" y="44850"/>
                </a:lnTo>
                <a:lnTo>
                  <a:pt x="415282" y="59121"/>
                </a:lnTo>
                <a:lnTo>
                  <a:pt x="534539" y="74175"/>
                </a:lnTo>
                <a:lnTo>
                  <a:pt x="668931" y="90014"/>
                </a:lnTo>
                <a:lnTo>
                  <a:pt x="815430" y="106794"/>
                </a:lnTo>
                <a:lnTo>
                  <a:pt x="974641" y="123574"/>
                </a:lnTo>
                <a:lnTo>
                  <a:pt x="1144144" y="140667"/>
                </a:lnTo>
                <a:lnTo>
                  <a:pt x="1326965" y="156506"/>
                </a:lnTo>
                <a:lnTo>
                  <a:pt x="1518261" y="171717"/>
                </a:lnTo>
                <a:lnTo>
                  <a:pt x="1720453" y="185518"/>
                </a:lnTo>
                <a:lnTo>
                  <a:pt x="1931121" y="198690"/>
                </a:lnTo>
                <a:lnTo>
                  <a:pt x="2150869" y="211079"/>
                </a:lnTo>
                <a:lnTo>
                  <a:pt x="2263467" y="215470"/>
                </a:lnTo>
                <a:lnTo>
                  <a:pt x="2378487" y="220332"/>
                </a:lnTo>
                <a:lnTo>
                  <a:pt x="2495323" y="224879"/>
                </a:lnTo>
                <a:lnTo>
                  <a:pt x="2612764" y="227859"/>
                </a:lnTo>
                <a:lnTo>
                  <a:pt x="2732627" y="230525"/>
                </a:lnTo>
                <a:lnTo>
                  <a:pt x="2853700" y="233348"/>
                </a:lnTo>
                <a:lnTo>
                  <a:pt x="2977195" y="235229"/>
                </a:lnTo>
                <a:lnTo>
                  <a:pt x="3101900" y="235229"/>
                </a:lnTo>
                <a:lnTo>
                  <a:pt x="3227817" y="236170"/>
                </a:lnTo>
                <a:lnTo>
                  <a:pt x="3354944" y="235229"/>
                </a:lnTo>
                <a:lnTo>
                  <a:pt x="3483887" y="233348"/>
                </a:lnTo>
                <a:lnTo>
                  <a:pt x="3612830" y="231623"/>
                </a:lnTo>
                <a:lnTo>
                  <a:pt x="3743589" y="227859"/>
                </a:lnTo>
                <a:lnTo>
                  <a:pt x="3875559" y="223938"/>
                </a:lnTo>
                <a:lnTo>
                  <a:pt x="4007529" y="219391"/>
                </a:lnTo>
                <a:lnTo>
                  <a:pt x="4140710" y="212961"/>
                </a:lnTo>
                <a:lnTo>
                  <a:pt x="4275102" y="205277"/>
                </a:lnTo>
                <a:lnTo>
                  <a:pt x="4410098" y="197907"/>
                </a:lnTo>
                <a:lnTo>
                  <a:pt x="4545096" y="188498"/>
                </a:lnTo>
                <a:lnTo>
                  <a:pt x="4681909" y="177207"/>
                </a:lnTo>
                <a:lnTo>
                  <a:pt x="4816905" y="165916"/>
                </a:lnTo>
                <a:lnTo>
                  <a:pt x="4954323" y="152899"/>
                </a:lnTo>
                <a:lnTo>
                  <a:pt x="5092347" y="138629"/>
                </a:lnTo>
                <a:lnTo>
                  <a:pt x="5228555" y="123574"/>
                </a:lnTo>
                <a:lnTo>
                  <a:pt x="5366578" y="106010"/>
                </a:lnTo>
                <a:lnTo>
                  <a:pt x="5503997" y="87192"/>
                </a:lnTo>
                <a:lnTo>
                  <a:pt x="5642020" y="68530"/>
                </a:lnTo>
                <a:lnTo>
                  <a:pt x="5779438" y="46733"/>
                </a:lnTo>
                <a:lnTo>
                  <a:pt x="5916251" y="24464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D351F0-6A21-0944-86B7-9796D1D2C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3669" y="1050556"/>
            <a:ext cx="3382798" cy="2953659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EADD3260-4BDA-459B-A162-5E1B897E38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283DA7DD-CA37-4ED7-8710-48E56B063B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00250"/>
            <a:ext cx="3143250" cy="314325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11000"/>
                </a:schemeClr>
              </a:gs>
              <a:gs pos="75000">
                <a:schemeClr val="accent5">
                  <a:alpha val="0"/>
                </a:schemeClr>
              </a:gs>
              <a:gs pos="36000">
                <a:schemeClr val="accent5"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B92F2E3C-66CD-4DEB-BA14-2A5912B65A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71700"/>
            <a:ext cx="1771650" cy="177165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8000"/>
                </a:schemeClr>
              </a:gs>
              <a:gs pos="72000">
                <a:schemeClr val="accent5">
                  <a:alpha val="0"/>
                </a:schemeClr>
              </a:gs>
              <a:gs pos="36000">
                <a:schemeClr val="accent5"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9" name="Google Shape;119;p21"/>
          <p:cNvSpPr txBox="1">
            <a:spLocks noGrp="1"/>
          </p:cNvSpPr>
          <p:nvPr>
            <p:ph type="body" idx="1"/>
          </p:nvPr>
        </p:nvSpPr>
        <p:spPr>
          <a:xfrm>
            <a:off x="479323" y="1358157"/>
            <a:ext cx="4554582" cy="33147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 fontScale="92500"/>
          </a:bodyPr>
          <a:lstStyle/>
          <a:p>
            <a:pPr marL="0" lvl="0" indent="0" defTabSz="457200"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rgbClr val="FFFFFF"/>
                </a:solidFill>
              </a:rPr>
              <a:t> The </a:t>
            </a:r>
            <a:r>
              <a:rPr lang="en-US" b="1" dirty="0" err="1">
                <a:solidFill>
                  <a:srgbClr val="FFFFFF"/>
                </a:solidFill>
              </a:rPr>
              <a:t>XGBoost</a:t>
            </a:r>
            <a:r>
              <a:rPr lang="en-US" b="1" dirty="0">
                <a:solidFill>
                  <a:srgbClr val="FFFFFF"/>
                </a:solidFill>
              </a:rPr>
              <a:t> Model is the best predictor of fraud.</a:t>
            </a:r>
          </a:p>
          <a:p>
            <a:pPr marL="0" lvl="0" indent="0" defTabSz="457200"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b="1" dirty="0"/>
              <a:t> Highly Accurate:</a:t>
            </a:r>
            <a:r>
              <a:rPr lang="en-US" dirty="0"/>
              <a:t> The model correctly classified nearly all transactions, achieving overall accuracy near 100%.</a:t>
            </a:r>
          </a:p>
          <a:p>
            <a:pPr marL="0" lvl="0" indent="0" defTabSz="457200"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b="1" dirty="0"/>
              <a:t> Strong Fraud Detection:</a:t>
            </a:r>
            <a:r>
              <a:rPr lang="en-US" dirty="0"/>
              <a:t> It identified 88% of fraud cases and correctly flagged them 91% of the time, minimizing missed fraud and false alarms.</a:t>
            </a:r>
          </a:p>
          <a:p>
            <a:pPr marL="0" lvl="0" indent="0" defTabSz="457200"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b="1" dirty="0"/>
              <a:t> Balanced Performance:</a:t>
            </a:r>
            <a:r>
              <a:rPr lang="en-US" dirty="0"/>
              <a:t> With an F1 score of 0.90 for fraud, the model delivers a strong balance between catching fraud and avoiding disruption to legitimate customers.</a:t>
            </a:r>
          </a:p>
          <a:p>
            <a:pPr marL="0" lvl="0" indent="0" defTabSz="457200">
              <a:spcBef>
                <a:spcPts val="1000"/>
              </a:spcBef>
              <a:buSzPct val="80000"/>
              <a:buFont typeface="Wingdings 3" charset="2"/>
              <a:buChar char=""/>
            </a:pPr>
            <a:r>
              <a:rPr lang="en-US" b="1" dirty="0"/>
              <a:t> Reliable at Scale:</a:t>
            </a:r>
            <a:r>
              <a:rPr lang="en-US" dirty="0"/>
              <a:t> These results indicate the model is ready </a:t>
            </a:r>
            <a:r>
              <a:rPr lang="en-US"/>
              <a:t>for real world </a:t>
            </a:r>
            <a:r>
              <a:rPr lang="en-US" dirty="0"/>
              <a:t>deployment, offering both precision and trust in high volume environments.</a:t>
            </a:r>
            <a:endParaRPr lang="en-US" dirty="0">
              <a:solidFill>
                <a:srgbClr val="FFFFFF"/>
              </a:solidFill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Business Impact</a:t>
            </a:r>
            <a:endParaRPr sz="25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endParaRPr sz="2500"/>
          </a:p>
        </p:txBody>
      </p:sp>
      <p:sp>
        <p:nvSpPr>
          <p:cNvPr id="125" name="Google Shape;125;p22"/>
          <p:cNvSpPr txBox="1">
            <a:spLocks noGrp="1"/>
          </p:cNvSpPr>
          <p:nvPr>
            <p:ph type="body" idx="1"/>
          </p:nvPr>
        </p:nvSpPr>
        <p:spPr>
          <a:xfrm>
            <a:off x="362929" y="1865847"/>
            <a:ext cx="4260300" cy="289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lvl="0" indent="-317500">
              <a:buSzPts val="1400"/>
            </a:pPr>
            <a:r>
              <a:rPr lang="en-US" sz="1000" b="1" dirty="0"/>
              <a:t>Reduced Financial Losses:</a:t>
            </a:r>
            <a:r>
              <a:rPr lang="en-US" sz="1000" dirty="0"/>
              <a:t> The model improves early detection of fraudulent transactions, helping to prevent costly chargebacks and fraud related expenses</a:t>
            </a:r>
            <a:r>
              <a:rPr lang="en" sz="1000" dirty="0"/>
              <a:t>.</a:t>
            </a:r>
            <a:endParaRPr sz="1000" dirty="0"/>
          </a:p>
          <a:p>
            <a:pPr lvl="0" indent="-317500">
              <a:spcBef>
                <a:spcPts val="1200"/>
              </a:spcBef>
              <a:buSzPts val="1400"/>
            </a:pPr>
            <a:r>
              <a:rPr lang="en-US" sz="1000" b="1" dirty="0"/>
              <a:t>Improved Customer Trust:</a:t>
            </a:r>
            <a:r>
              <a:rPr lang="en-US" sz="1000" dirty="0"/>
              <a:t> Accurate fraud detection minimizes disruptions to legitimate users, enhancing brand reputation and customer loyalty</a:t>
            </a:r>
            <a:r>
              <a:rPr lang="en" sz="1000" dirty="0"/>
              <a:t>.</a:t>
            </a:r>
            <a:endParaRPr sz="1000" dirty="0"/>
          </a:p>
          <a:p>
            <a:pPr lvl="0" indent="-317500">
              <a:spcBef>
                <a:spcPts val="1200"/>
              </a:spcBef>
              <a:buSzPts val="1400"/>
            </a:pPr>
            <a:r>
              <a:rPr lang="en" sz="1000" b="1" dirty="0"/>
              <a:t>Improve Customer Satisfaction</a:t>
            </a:r>
            <a:r>
              <a:rPr lang="en" sz="1000" dirty="0"/>
              <a:t>:  </a:t>
            </a:r>
            <a:r>
              <a:rPr lang="en-US" sz="1000" dirty="0"/>
              <a:t>Deliver a safer, more seamless experience for customers.</a:t>
            </a:r>
            <a:endParaRPr lang="en" sz="1000" dirty="0"/>
          </a:p>
          <a:p>
            <a:pPr lvl="0" indent="-317500">
              <a:spcBef>
                <a:spcPts val="1200"/>
              </a:spcBef>
              <a:buSzPts val="1400"/>
            </a:pPr>
            <a:r>
              <a:rPr lang="en-US" sz="1000" b="1" dirty="0"/>
              <a:t>Operational Efficiency:</a:t>
            </a:r>
            <a:r>
              <a:rPr lang="en-US" sz="1000" dirty="0"/>
              <a:t> Automating fraud detection reduces reliance on manual review teams, cutting labor costs and speeding up response times.</a:t>
            </a:r>
          </a:p>
          <a:p>
            <a:pPr lvl="0" indent="-317500">
              <a:spcBef>
                <a:spcPts val="1200"/>
              </a:spcBef>
              <a:buSzPts val="1400"/>
            </a:pPr>
            <a:r>
              <a:rPr lang="en-US" sz="1000" b="1" dirty="0"/>
              <a:t>Scalability and Real-Time Use:</a:t>
            </a:r>
            <a:r>
              <a:rPr lang="en-US" sz="1000" dirty="0"/>
              <a:t> The solution can be integrated into live transaction systems, allowing for scalable fraud monitoring as transaction volume grows.</a:t>
            </a:r>
          </a:p>
          <a:p>
            <a:pPr lvl="0" indent="-317500">
              <a:spcBef>
                <a:spcPts val="1200"/>
              </a:spcBef>
              <a:buSzPts val="1400"/>
            </a:pPr>
            <a:r>
              <a:rPr lang="en-US" sz="1000" b="1" dirty="0"/>
              <a:t>Data-Driven Decision Making:</a:t>
            </a:r>
            <a:r>
              <a:rPr lang="en-US" sz="1000" dirty="0"/>
              <a:t> Insights from the model and feature importance enable smarter risk management and targeted fraud prevention strategies.</a:t>
            </a:r>
          </a:p>
          <a:p>
            <a:pPr lvl="0" indent="-317500">
              <a:spcBef>
                <a:spcPts val="1200"/>
              </a:spcBef>
              <a:buSzPts val="1400"/>
            </a:pPr>
            <a:endParaRPr sz="1000" dirty="0"/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400" dirty="0"/>
          </a:p>
        </p:txBody>
      </p:sp>
      <p:pic>
        <p:nvPicPr>
          <p:cNvPr id="126" name="Google Shape;126;p22" title="fraud-prevention-shield-a-shield-icon-with-a-checkmark-surrounded-by-icons-representing-various-supply-chain-components-raw-materials-production-retail-to-emphasize-security-and-vector.jpg"/>
          <p:cNvPicPr preferRelativeResize="0"/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4896800" y="1484575"/>
            <a:ext cx="4087200" cy="29829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500"/>
              <a:t>Risk and Mitigation</a:t>
            </a:r>
            <a:endParaRPr sz="2500"/>
          </a:p>
        </p:txBody>
      </p:sp>
      <p:sp>
        <p:nvSpPr>
          <p:cNvPr id="132" name="Google Shape;132;p23"/>
          <p:cNvSpPr txBox="1">
            <a:spLocks noGrp="1"/>
          </p:cNvSpPr>
          <p:nvPr>
            <p:ph type="body" idx="1"/>
          </p:nvPr>
        </p:nvSpPr>
        <p:spPr>
          <a:xfrm>
            <a:off x="1156855" y="1796631"/>
            <a:ext cx="6885709" cy="32394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200" b="1" dirty="0"/>
              <a:t>Missed Fraudulent Transactions: </a:t>
            </a: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" sz="1000" dirty="0">
                <a:solidFill>
                  <a:schemeClr val="dk1"/>
                </a:solidFill>
              </a:rPr>
              <a:t>Mitgation:  </a:t>
            </a:r>
            <a:r>
              <a:rPr lang="en-US" sz="1000" dirty="0">
                <a:solidFill>
                  <a:schemeClr val="dk1"/>
                </a:solidFill>
              </a:rPr>
              <a:t>Deploy a real time fraud monitoring system to detect threats instantly.</a:t>
            </a:r>
            <a:endParaRPr lang="en" sz="1000" dirty="0">
              <a:solidFill>
                <a:schemeClr val="dk1"/>
              </a:solidFill>
            </a:endParaRP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000" dirty="0">
                <a:solidFill>
                  <a:schemeClr val="dk1"/>
                </a:solidFill>
              </a:rPr>
              <a:t>Mitigation: Implement expert review for borderline cases and continuously refine model. thresholds</a:t>
            </a:r>
            <a:endParaRPr sz="1000" dirty="0">
              <a:solidFill>
                <a:schemeClr val="dk1"/>
              </a:solidFill>
            </a:endParaRPr>
          </a:p>
          <a:p>
            <a:pPr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200" b="1" dirty="0"/>
              <a:t>Bias or Unfair Outcomes</a:t>
            </a:r>
            <a:r>
              <a:rPr lang="en" sz="1200" b="1" dirty="0"/>
              <a:t>:</a:t>
            </a:r>
            <a:endParaRPr sz="1200" b="1" dirty="0"/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000" dirty="0">
                <a:solidFill>
                  <a:schemeClr val="dk1"/>
                </a:solidFill>
              </a:rPr>
              <a:t>Mitigation: Monitor performance across different customer segments and validate fairness metrics periodically.</a:t>
            </a:r>
          </a:p>
          <a:p>
            <a:pPr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200" b="1" dirty="0"/>
              <a:t>Model Drift Over Time:</a:t>
            </a: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000" dirty="0">
                <a:solidFill>
                  <a:schemeClr val="dk1"/>
                </a:solidFill>
              </a:rPr>
              <a:t>Mitigation: Schedule regular model retraining with updated transaction data to maintain accuracy.</a:t>
            </a:r>
          </a:p>
          <a:p>
            <a:pPr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200" b="1" dirty="0"/>
              <a:t>False Positives Impacting Customers:</a:t>
            </a: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000" dirty="0">
                <a:solidFill>
                  <a:schemeClr val="dk1"/>
                </a:solidFill>
              </a:rPr>
              <a:t>Mitigation: Fine-tune the model to balance precision and recall and introduce manual review for flagged high-value transactions</a:t>
            </a:r>
            <a:r>
              <a:rPr lang="en-US" sz="1000" dirty="0"/>
              <a:t>.</a:t>
            </a:r>
          </a:p>
          <a:p>
            <a:pPr marL="457200"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b="1" dirty="0"/>
              <a:t>System Integration Challenges:</a:t>
            </a: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r>
              <a:rPr lang="en-US" sz="1000" dirty="0">
                <a:solidFill>
                  <a:schemeClr val="dk1"/>
                </a:solidFill>
              </a:rPr>
              <a:t>Mitigation: Use modular APIs and cloud-based deployment strategies to ensure smooth integration with existing fraud systems.</a:t>
            </a:r>
          </a:p>
          <a:p>
            <a:pPr lvl="1" indent="-315912">
              <a:lnSpc>
                <a:spcPct val="115000"/>
              </a:lnSpc>
              <a:buClr>
                <a:schemeClr val="dk1"/>
              </a:buClr>
              <a:buSzPts val="1375"/>
            </a:pPr>
            <a:endParaRPr sz="1000" b="1" dirty="0"/>
          </a:p>
          <a:p>
            <a:pPr marL="0" lvl="0" indent="0" algn="l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lang="en" sz="1625" dirty="0">
                <a:solidFill>
                  <a:schemeClr val="dk1"/>
                </a:solidFill>
              </a:rPr>
              <a:t>						</a:t>
            </a:r>
            <a:endParaRPr sz="1625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80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625" dirty="0">
                <a:solidFill>
                  <a:schemeClr val="dk1"/>
                </a:solidFill>
              </a:rPr>
              <a:t>		</a:t>
            </a:r>
            <a:endParaRPr sz="1625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66</TotalTime>
  <Words>808</Words>
  <Application>Microsoft Office PowerPoint</Application>
  <PresentationFormat>On-screen Show (16:9)</PresentationFormat>
  <Paragraphs>83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Century Gothic</vt:lpstr>
      <vt:lpstr>Average</vt:lpstr>
      <vt:lpstr>Arial</vt:lpstr>
      <vt:lpstr>Wingdings 3</vt:lpstr>
      <vt:lpstr>Ion Boardroom</vt:lpstr>
      <vt:lpstr>Credit Card Fraud Detection</vt:lpstr>
      <vt:lpstr>Introduction </vt:lpstr>
      <vt:lpstr>Business Problem </vt:lpstr>
      <vt:lpstr>Our Goal</vt:lpstr>
      <vt:lpstr>Dataset</vt:lpstr>
      <vt:lpstr>Challenges</vt:lpstr>
      <vt:lpstr>Our Approach</vt:lpstr>
      <vt:lpstr>Results</vt:lpstr>
      <vt:lpstr>Best Model</vt:lpstr>
      <vt:lpstr>Business Impact </vt:lpstr>
      <vt:lpstr>Risk and Mitigation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Rebecca Cloe</cp:lastModifiedBy>
  <cp:revision>1</cp:revision>
  <dcterms:modified xsi:type="dcterms:W3CDTF">2025-06-17T23:30:26Z</dcterms:modified>
</cp:coreProperties>
</file>